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1 - CAPA):</a:t>
            </a:r>
          </a:p>
          <a:p>
            <a:r>
              <a:t>- 'Bom dia/boa tarde a todos os membros da banca examinadora, ao meu orientador professor Diego Colombo Dias, ao meu coorientador Pedro Berger e a todos os presentes.'</a:t>
            </a:r>
          </a:p>
          <a:p>
            <a:r>
              <a:t>- 'Meu nome é Guilherme Merisio Costa e hoje apresento a qualificação do meu Trabalho de Conclusão de Curso 1 no Bacharelado em Estatística e Ciência de Dados da Universidade Federal do Espírito Santo.'</a:t>
            </a:r>
          </a:p>
          <a:p>
            <a:r>
              <a:t>- 'O tema do meu trabalho é: Avaliação Comparativa de Modelos de Embeddings para Recuperação de Informação em Documentos Públicos: Um Estudo de Caso no Município de São Gabriel da Palha.'</a:t>
            </a:r>
          </a:p>
          <a:p>
            <a:r>
              <a:t>- 'Este estudo se insere no contexto do Projeto JULIUS, desenvolvido em parceria com o Ministério Público do Estado do Espírito Santo e a Prefeitura Municipal de São Gabriel da Palha.'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2 - SUMÁRIO):</a:t>
            </a:r>
          </a:p>
          <a:p>
            <a:r>
              <a:t>- 'Para organizar nossa apresentação, dividi o trabalho em 8 blocos lógicos:'</a:t>
            </a:r>
          </a:p>
          <a:p>
            <a:r>
              <a:t>- '1. Primeiro, contextualizo o Projeto JULIUS e sua evolução;'</a:t>
            </a:r>
          </a:p>
          <a:p>
            <a:r>
              <a:t>- '2. Demonstro por que este estudo importa e a lacuna científica que ele preenche;'</a:t>
            </a:r>
          </a:p>
          <a:p>
            <a:r>
              <a:t>- '3. Apresento a pergunta condutora e os objetivos da pesquisa;'</a:t>
            </a:r>
          </a:p>
          <a:p>
            <a:r>
              <a:t>- '4. Detalho todo o trabalho de Engenharia de Dados já realizado até chegarmos à base atual;'</a:t>
            </a:r>
          </a:p>
          <a:p>
            <a:r>
              <a:t>- '5. Apresento os 4 modelos de embeddings selecionados;'</a:t>
            </a:r>
          </a:p>
          <a:p>
            <a:r>
              <a:t>- '6. Demonstro os Resultados Parciais já alcançados no TCC 1 com dados empíricos reais;'</a:t>
            </a:r>
          </a:p>
          <a:p>
            <a:r>
              <a:t>- '7. Explico o Planejamento Experimental com o rigor estatístico que aplicaremos no TCC 2;'</a:t>
            </a:r>
          </a:p>
          <a:p>
            <a:r>
              <a:t>- '8. E concluo com o cronograma, as referências e a abertura para as perguntas da banca.'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3 - CONTEXTUALIZAÇÃO E STORYTELLING):</a:t>
            </a:r>
          </a:p>
          <a:p>
            <a:r>
              <a:t>- 'Para entender este trabalho, precisamos entender como o Projeto JULIUS nasceu:'</a:t>
            </a:r>
          </a:p>
          <a:p>
            <a:r>
              <a:t>- 'No início, o JULIUS foi criado no âmbito do Ministério Público com um objetivo nobre, porém tradicional: era um robô de extração para raspar dados de portais da transparência e auditar compras públicas.'</a:t>
            </a:r>
          </a:p>
          <a:p>
            <a:r>
              <a:t>- 'No entanto, a Prefeitura de São Gabriel da Palha procurou o Ministério Público com uma dor real: ter os dados publicados não significava que as pessoas conseguiam achar o que precisavam. O cidadão e o servidor se perdiam num emaranhado de PDFs.'</a:t>
            </a:r>
          </a:p>
          <a:p>
            <a:r>
              <a:t>- 'Foi aí que surgiu a visão de transformar o JULIUS: em vez de um extrator passivo, transformá-lo em um agente conversacional — um chatbot inteligente estadual.'</a:t>
            </a:r>
          </a:p>
          <a:p>
            <a:r>
              <a:t>- 'E onde a busca textual entra nisso? Em assistentes baseados em RAG, o cérebro da resposta está na recuperação do documento. Se o modelo de embeddings não encontrar o trecho exato do edital ou contrato, o chatbot vai alucinar. E no setor público, alucinação significa prestar informação falsa ao cidadão. Daí a importância vital deste estudo.'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4 - IMPORTÂNCIA E INEDITISMO):</a:t>
            </a:r>
          </a:p>
          <a:p>
            <a:r>
              <a:t>- 'A pergunta natural que a banca pode se fazer é: Por que esse estudo importa tanto e por que ninguém fez isso ainda?'</a:t>
            </a:r>
          </a:p>
          <a:p>
            <a:r>
              <a:t>- 'Primeiro: por que importa? Porque a Lei de Acesso à Informação existe desde 2011, mas ter um PDF escaneado jogado num portal web não é transparência de verdade. Um chatbot confiável aproxima o cidadão do gasto público e dá agilidade aos auditores. Mas para isso, o modelo não pode alucinar.'</a:t>
            </a:r>
          </a:p>
          <a:p>
            <a:r>
              <a:t>- 'Segundo: por que ainda não foi estudado? Porque a literatura de IA e Processamento de Linguagem Natural é viciada em benchmarks genéricos em inglês, como o MTEB, que testam se o modelo acha artigos na Wikipédia ou tweets no Reddit.'</a:t>
            </a:r>
          </a:p>
          <a:p>
            <a:r>
              <a:t>- 'Nenhum desses benchmarks reflete a realidade de um contrato da Prefeitura de São Gabriel da Palha! O vocabulário é jurídico-administrativo, a sintaxe é formal, e muitos arquivos são digitalizados. Existe uma lacuna científica clara, e é exatamente essa lacuna que o nosso TCC preenche com rigor em Ciência de Dados.'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5 - PROBLEMA DE PESQUISA):</a:t>
            </a:r>
          </a:p>
          <a:p>
            <a:r>
              <a:t>- 'Diante desse cenário, formulamos a Pergunta Condutora que orienta todo o trabalho:'</a:t>
            </a:r>
          </a:p>
          <a:p>
            <a:r>
              <a:t>- (Ler a pergunta de pesquisa no slide com firmeza).</a:t>
            </a:r>
          </a:p>
          <a:p>
            <a:r>
              <a:t>- 'Para responder a essa pergunta sob a ótica da Estatística, definimos um controle experimental rigoroso:'</a:t>
            </a:r>
          </a:p>
          <a:p>
            <a:r>
              <a:t>- 'Nossa variável independente é o modelo de embeddings; as variáveis dependentes são as métricas de ranking da Recuperação da Informação e a latência de inferência; e controlamos todo o resto — o mesmo texto, o mesmo tamanho de chunk e a mesma métrica de cosseno.'</a:t>
            </a:r>
          </a:p>
          <a:p>
            <a:r>
              <a:t>- 'E por que delimitar em São Gabriel da Palha? Porque foi de lá que nasceu a parceria com o Ministério Público, permitindo construir um piloto extremamente controlado e auditável antes de pensar em escala estadual.'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6 - OBJETIVOS):</a:t>
            </a:r>
          </a:p>
          <a:p>
            <a:r>
              <a:t>- 'Para responder ao problema de pesquisa, estabelecemos nosso Objetivo Geral e desdobramos em 4 Objetivos Específicos encadeados:'</a:t>
            </a:r>
          </a:p>
          <a:p>
            <a:r>
              <a:t>- '1. Engenharia de Dados: estruturar todo o pipeline de raspagem, OCR e chunking — o que já foi 100% concluído no TCC 1;'</a:t>
            </a:r>
          </a:p>
          <a:p>
            <a:r>
              <a:t>- '2. Seleção de Modelos: eleger 4 modelos representativos (proprietário em nuvem, abertos multilíngues e especialista nacional);'</a:t>
            </a:r>
          </a:p>
          <a:p>
            <a:r>
              <a:t>- '3. Formulação do Protocolo: criar o Golden Dataset anotado de consultas com gabarito formal de relevância;'</a:t>
            </a:r>
          </a:p>
          <a:p>
            <a:r>
              <a:t>- '4. Avaliação Estatística: rodar a busca e aplicar testes de hipótese confirmatórios (Wilcoxon) para apontar o modelo vencedor com rigor estatístico.'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7 - ENGENHARIA DE DADOS):</a:t>
            </a:r>
          </a:p>
          <a:p>
            <a:r>
              <a:t>- 'Agora começo a falar do que já foi feito na prática até chegarmos à base consolidada que temos hoje:'</a:t>
            </a:r>
          </a:p>
          <a:p>
            <a:r>
              <a:t>- 'Primeiro, a extração dos dados: o portal de São Gabriel da Palha usa uma plataforma ASP.NET sem API para download em lote. Tivemos que programar um web scraper com Selenium e BeautifulSoup para manipular os iframes e disparar os eventos JavaScript da paginação.'</a:t>
            </a:r>
          </a:p>
          <a:p>
            <a:r>
              <a:t>- 'Para não perder o controle das milhares de páginas baixadas, usamos o SQLite como banco operacional de controle de fila e integridade.'</a:t>
            </a:r>
          </a:p>
          <a:p>
            <a:r>
              <a:t>- 'E para a base analítica central, adotamos o DuckDB. Por que o DuckDB? Porque ele é colunar, roda in-process com custo zero de rede, tem processamento vetorizado em nível de CPU e permite colunas tipadas de arrays de float (FLOAT[N]). Isso nos deu um banco vetorial analítico completo sem precisar de servidores externos pesados.'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8 - PROCESSAMENTO TEXTUAL):</a:t>
            </a:r>
          </a:p>
          <a:p>
            <a:r>
              <a:t>- 'Um dos maiores desafios práticos em dados da administração pública é que os documentos em PDF têm naturezas totalmente diferentes: alguns nasceram no Word e foram salvos em PDF; outros foram impressos, assinados na caneta e escaneados numa copiadora.'</a:t>
            </a:r>
          </a:p>
          <a:p>
            <a:r>
              <a:t>- 'Para resolver isso, criamos um pipeline de extração híbrida em dois níveis:'</a:t>
            </a:r>
          </a:p>
          <a:p>
            <a:r>
              <a:t>- 'No Nível 1, tentamos extração direta via PyMuPDF. Se o texto extraído tiver pelo menos 50 caracteres, consideramos sucesso direto.'</a:t>
            </a:r>
          </a:p>
          <a:p>
            <a:r>
              <a:t>- 'Se tiver menos de 50 caracteres, acionamos automaticamente o Nível 2 de contingência: convertemos as páginas em imagens a 300 DPI e aplicamos o Tesseract OCR com rede neural LSTM treinada em português.'</a:t>
            </a:r>
          </a:p>
          <a:p>
            <a:r>
              <a:t>- 'Na higienização, tomamos um cuidado metodológico essencial para Ciência de Dados: corrigimos Unicode com ftfy e removemos artefatos repetitivos de assinaturas, mas NÃO aplicamos lematização ou quebra radical. Modelos de embeddings densos precisam da pontuação e da sintaxe original para calcular a atenção contextual.'</a:t>
            </a:r>
          </a:p>
          <a:p>
            <a:r>
              <a:t>- 'E segmentamos tudo em chunks de 500 tokens com overlap de 60 tokens, compatível com a extensão média de uma cláusula contratual.'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9 - MODELOS SELECIONADOS):</a:t>
            </a:r>
          </a:p>
          <a:p>
            <a:r>
              <a:t>- 'Para compor nosso experimento comparativo, selecionamos 4 arquiteturas vetoriais altamente representativas:'</a:t>
            </a:r>
          </a:p>
          <a:p>
            <a:r>
              <a:t>- '1. O text-embedding-3-small da Azure OpenAI: é o padrão de mercado, um modelo comercial fechado de 1.536 dimensões que atua como nosso baseline de ponta;'</a:t>
            </a:r>
          </a:p>
          <a:p>
            <a:r>
              <a:t>- '2. O multilingual-e5-base da Microsoft: um modelo aberto de 768 dimensões consolidado na literatura acadêmica, que utiliza prefixos assimétricos query/passage;'</a:t>
            </a:r>
          </a:p>
          <a:p>
            <a:r>
              <a:t>- '3. O BAAI/bge-m3: o modelo aberto multilíngue mais avançado da atualidade (1.024 dimensões), com suporte a contexto longo e alta precisão;'</a:t>
            </a:r>
          </a:p>
          <a:p>
            <a:r>
              <a:t>- '4. O BERTimbau: um modelo especialista 100% brasileiro, pré-treinado exclusivamente em língua portuguesa, que usamos com Mean Pooling (768 dimensões).'</a:t>
            </a:r>
          </a:p>
          <a:p>
            <a:r>
              <a:t>- 'Essa seleção nos permite responder a perguntas fundamentais: vale a pena pagar API da OpenAI para documentos públicos? Um modelo especialista em português brasileiro bate os gigantes multilíngues globais no vocabulário de contratos municipais?'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10 - RESULTADOS PARCIAIS TCC 1):</a:t>
            </a:r>
          </a:p>
          <a:p>
            <a:r>
              <a:t>- 'Gostaria de chamar a atenção especial da banca para este slide de Resultados Parciais:'</a:t>
            </a:r>
          </a:p>
          <a:p>
            <a:r>
              <a:t>- 'O TCC 1 não é apenas uma proposta no papel. Temos resultados empíricos sólidos e mensuráveis:'</a:t>
            </a:r>
          </a:p>
          <a:p>
            <a:r>
              <a:t>- 'Coletamos 7.656 documentos públicos de São Gabriel da Palha. E vejam este dado surpreendente: 58,25% deles — ou seja, 4.460 arquivos — dependiam obrigatoriamente de OCR! Sem o pipeline que construímos, quase 60% dos atos municipais seriam completamente invisíveis para qualquer IA.'</a:t>
            </a:r>
          </a:p>
          <a:p>
            <a:r>
              <a:t>- 'Geramos 139.032 chunks de texto limpo gravados no DuckDB.'</a:t>
            </a:r>
          </a:p>
          <a:p>
            <a:r>
              <a:t>- 'E mais: todos os 139.032 chunks já foram 100% vetorizados com o modelo comercial text-embedding-3-small da OpenAI e estão persistidos na nossa base analítica.'</a:t>
            </a:r>
          </a:p>
          <a:p>
            <a:r>
              <a:t>- 'Além disso, o schema do banco já está com as colunas prontas para receber os embeddings locais do BERTimbau, E5 e BGE-M3. Ou seja: o gargalo mais pesado de engenharia de dados foi vencido com êxito.'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11 - PLANEJAMENTO EXPERIMENTAL):</a:t>
            </a:r>
          </a:p>
          <a:p>
            <a:r>
              <a:t>- 'Entrando agora nas etapas planejadas para o TCC 2:'</a:t>
            </a:r>
          </a:p>
          <a:p>
            <a:r>
              <a:t>- 'Para avaliar busca semântica com seriedade científica, precisamos de um Golden Dataset com gabarito de relevância (Ground Truth).'</a:t>
            </a:r>
          </a:p>
          <a:p>
            <a:r>
              <a:t>- 'Construiremos uma amostra de 50 a 100 perguntas divididas em 3 eixos fundamentais: fatuais diretas (valores e datas), descrições temáticas (objeto da licitação) e regras contratuais (reajustes e multas).'</a:t>
            </a:r>
          </a:p>
          <a:p>
            <a:r>
              <a:t>- 'Para cada pergunta, anotaremos manualmente o ID do chunk que contém a resposta exata.'</a:t>
            </a:r>
          </a:p>
          <a:p>
            <a:r>
              <a:t>- 'E avaliaremos as 4 métricas clássicas consagradas de Recuperação da Informação: Recall@K, Precision@K, MRR e NDCG@K nos cortes K=1, 3, 5 e 10. Esses pontos de corte são estratégicos porque em sistemas RAG o contexto do LLM recebe tipicamente entre 3 e 5 trechos.'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12 - VALIDAÇÃO ESTATÍSTICA E EFICIÊNCIA):</a:t>
            </a:r>
          </a:p>
          <a:p>
            <a:r>
              <a:t>- 'Aqui está o grande diferencial da nossa formação em Estatística e Ciência de Dados:'</a:t>
            </a:r>
          </a:p>
          <a:p>
            <a:r>
              <a:t>- 'Não vamos simplesmente dizer que o Modelo A teve média 0.85 e o Modelo B teve 0.82. Nós vamos aplicar testes confirmatórios de hipótese estatística!'</a:t>
            </a:r>
          </a:p>
          <a:p>
            <a:r>
              <a:t>- 'Por que o Teste de Wilcoxon Pareado? Porque métricas de RI são truncadas entre 0 e 1, têm forte assimetria e violam a normalidade exigida pelo teste t de Student. O Wilcoxon pareado a 5% de significância é o método ideal para comparar o desempenho dos modelos nas mesmas perguntas.'</a:t>
            </a:r>
          </a:p>
          <a:p>
            <a:r>
              <a:t>- 'E sob a ótica de Ciência de Dados Aplicada, avaliaremos a latência de inferência em milissegundos e o consumo de memória. Um órgão público precisa saber se a diferença de precisão compensa pagar uma API em nuvem em dólares ou se um modelo aberto rodando localmente traz custo zero e soberania total.'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13 - CRONOGRAMA):</a:t>
            </a:r>
          </a:p>
          <a:p>
            <a:r>
              <a:t>- 'Apresento o cronograma estruturado em 5 meses para o TCC 2:'</a:t>
            </a:r>
          </a:p>
          <a:p>
            <a:r>
              <a:t>- 'Mês 1 para concluir a vetorização dos 3 modelos locais no DuckDB; Mês 2 para fechar a rotulagem do Golden Dataset; Mês 3 para rodar a bateria experimental de busca; Mês 4 para os testes de Wilcoxon e métricas de eficiência; e Mês 5 para fechamento da monografia e defesa.'</a:t>
            </a:r>
          </a:p>
          <a:p>
            <a:r>
              <a:t>- 'E destaco para a banca que o projeto tem viabilidade garantida: não dependemos de autorizações futuras de extração ou coleta de dados. A base já está pronta e vetorizada no DuckDB, restando apenas as etapas de experimentação e teste estatístico.'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14 - REFERÊNCIAS):</a:t>
            </a:r>
          </a:p>
          <a:p>
            <a:r>
              <a:t>- 'Aqui elenco as referências centrais que sustentam a fundamentação teórica e metodológica da pesquisa:'</a:t>
            </a:r>
          </a:p>
          <a:p>
            <a:r>
              <a:t>- 'O marco legal da Lei de Acesso à Informação; as obras seminais de Recuperação de Informação e RAG (Manning, Lewis); os artigos originais dos 4 modelos que estamos avaliando (OpenAI, E5 da Microsoft, BGE-M3 e o BERTimbau do professor Roberto Lotufo); e o clássico artigo de Frank Wilcoxon de 1945 para o teste de postos sinalizados.'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DE FALA (SLIDE 15 - CONCLUSÃO E AGRADECIMENTOS):</a:t>
            </a:r>
          </a:p>
          <a:p>
            <a:r>
              <a:t>- 'Para concluir, este trabalho une a teoria estatística e as ferramentas modernas de Ciência de Dados para resolver um problema concreto do setor público capixaba.'</a:t>
            </a:r>
          </a:p>
          <a:p>
            <a:r>
              <a:t>- 'Gostaria de registrar meus sinceros agradecimentos à Universidade Federal do Espírito Santo, ao meu orientador professor Diego Colombo Dias, ao meu coorientador Pedro Berger, à equipe do Projeto JULIUS no Ministério Público do Espírito Santo e à Prefeitura de São Gabriel da Palha.'</a:t>
            </a:r>
          </a:p>
          <a:p>
            <a:r>
              <a:t>- 'Muito obrigado a todos pela atenção. Passo agora a palavra ao presidente da banca e me coloco à inteira disposição para as perguntas e considerações dos avaliadores.'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05840"/>
            <a:ext cx="109728" cy="30175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960120"/>
            <a:ext cx="10058400" cy="365760"/>
          </a:xfrm>
          <a:prstGeom prst="rect">
            <a:avLst/>
          </a:prstGeom>
          <a:noFill/>
        </p:spPr>
        <p:txBody>
          <a:bodyPr wrap="none">
            <a:spAutoFit/>
          </a:bodyPr>
          <a:lstStyle/>
          <a:p>
            <a:pPr>
              <a:defRPr sz="1100" b="1">
                <a:solidFill>
                  <a:srgbClr val="2563EB"/>
                </a:solidFill>
                <a:latin typeface="Calibri"/>
              </a:defRPr>
            </a:pPr>
            <a:r>
              <a:t>UNIVERSIDADE FEDERAL DO ESPÍRITO SANTO — UFES | TRABALHO DE CONCLUSÃO DE CURSO 1</a:t>
            </a:r>
          </a:p>
        </p:txBody>
      </p:sp>
      <p:sp>
        <p:nvSpPr>
          <p:cNvPr id="5" name="TextBox 4"/>
          <p:cNvSpPr txBox="1"/>
          <p:nvPr/>
        </p:nvSpPr>
        <p:spPr>
          <a:xfrm>
            <a:off x="1005840" y="1325880"/>
            <a:ext cx="10241280" cy="2011680"/>
          </a:xfrm>
          <a:prstGeom prst="rect">
            <a:avLst/>
          </a:prstGeom>
          <a:noFill/>
        </p:spPr>
        <p:txBody>
          <a:bodyPr wrap="square">
            <a:spAutoFit/>
          </a:bodyPr>
          <a:lstStyle/>
          <a:p>
            <a:pPr>
              <a:defRPr sz="2700" b="1">
                <a:solidFill>
                  <a:srgbClr val="0F172A"/>
                </a:solidFill>
                <a:latin typeface="Calibri"/>
              </a:defRPr>
            </a:pPr>
            <a:r>
              <a:t>Avaliação Comparativa de Modelos de Embeddings para Recuperação de Informação em Documentos Públicos</a:t>
            </a:r>
          </a:p>
          <a:p>
            <a:pPr>
              <a:spcBef>
                <a:spcPts val="800"/>
              </a:spcBef>
              <a:defRPr sz="1600">
                <a:solidFill>
                  <a:srgbClr val="64748B"/>
                </a:solidFill>
                <a:latin typeface="Calibri"/>
              </a:defRPr>
            </a:pPr>
            <a:r>
              <a:t>Um Estudo de Caso no Município de São Gabriel da Palha no Âmbito do Projeto JULIUS</a:t>
            </a:r>
          </a:p>
        </p:txBody>
      </p:sp>
      <p:sp>
        <p:nvSpPr>
          <p:cNvPr id="6" name="Rounded Rectangle 5"/>
          <p:cNvSpPr/>
          <p:nvPr/>
        </p:nvSpPr>
        <p:spPr>
          <a:xfrm>
            <a:off x="1005840" y="4297680"/>
            <a:ext cx="102412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434840"/>
            <a:ext cx="9875520" cy="1645920"/>
          </a:xfrm>
          <a:prstGeom prst="rect">
            <a:avLst/>
          </a:prstGeom>
          <a:noFill/>
        </p:spPr>
        <p:txBody>
          <a:bodyPr wrap="square">
            <a:spAutoFit/>
          </a:bodyPr>
          <a:lstStyle/>
          <a:p>
            <a:pPr algn="l">
              <a:defRPr sz="1350" b="1">
                <a:solidFill>
                  <a:srgbClr val="0F172A"/>
                </a:solidFill>
                <a:latin typeface="Calibri"/>
              </a:defRPr>
            </a:pPr>
            <a:r>
              <a:t>Aluno: Guilherme Merisio Costa</a:t>
            </a:r>
          </a:p>
          <a:p>
            <a:pPr algn="l">
              <a:spcBef>
                <a:spcPts val="500"/>
              </a:spcBef>
              <a:defRPr sz="1250">
                <a:solidFill>
                  <a:srgbClr val="1E293B"/>
                </a:solidFill>
                <a:latin typeface="Calibri"/>
              </a:defRPr>
            </a:pPr>
            <a:r>
              <a:t>Orientador: Prof. Dr. Diego Roberto Colombo Dias    |    Coorientador: Pedro Pelacani Berger</a:t>
            </a:r>
          </a:p>
          <a:p>
            <a:pPr algn="l">
              <a:spcBef>
                <a:spcPts val="500"/>
              </a:spcBef>
              <a:defRPr sz="1200">
                <a:solidFill>
                  <a:srgbClr val="64748B"/>
                </a:solidFill>
                <a:latin typeface="Calibri"/>
              </a:defRPr>
            </a:pPr>
            <a:r>
              <a:t>Curso: Bacharelado em Estatística e Ciência de Dados    |    Instituição: Universidade Federal do Espírito Santo (UFES)</a:t>
            </a:r>
          </a:p>
          <a:p>
            <a:pPr algn="l">
              <a:spcBef>
                <a:spcPts val="500"/>
              </a:spcBef>
              <a:defRPr sz="1100">
                <a:solidFill>
                  <a:srgbClr val="2563EB"/>
                </a:solidFill>
                <a:latin typeface="Calibri"/>
              </a:defRPr>
            </a:pPr>
            <a:r>
              <a:t>Cooperação Institucional: Ministério Público do Estado do Espírito Santo (MPES) &amp; Prefeitura de São Gabriel da Palha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ESTRUTURA DA APRESENTAÇÃO</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Sumário do Trabalho de Conclusão de Curso 1</a:t>
            </a:r>
          </a:p>
        </p:txBody>
      </p:sp>
      <p:sp>
        <p:nvSpPr>
          <p:cNvPr id="5" name="Rounded Rectangle 4"/>
          <p:cNvSpPr/>
          <p:nvPr/>
        </p:nvSpPr>
        <p:spPr>
          <a:xfrm>
            <a:off x="731520" y="1645920"/>
            <a:ext cx="5175504"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810512"/>
            <a:ext cx="731520" cy="731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10512"/>
            <a:ext cx="731520" cy="731520"/>
          </a:xfrm>
          <a:prstGeom prst="rect">
            <a:avLst/>
          </a:prstGeom>
          <a:noFill/>
        </p:spPr>
        <p:txBody>
          <a:bodyPr wrap="square" anchor="ctr">
            <a:spAutoFit/>
          </a:bodyPr>
          <a:lstStyle/>
          <a:p>
            <a:pPr algn="ctr">
              <a:defRPr sz="1800" b="1">
                <a:solidFill>
                  <a:srgbClr val="2563EB"/>
                </a:solidFill>
                <a:latin typeface="Calibri"/>
              </a:defRPr>
            </a:pPr>
            <a:r>
              <a:t>01</a:t>
            </a:r>
          </a:p>
        </p:txBody>
      </p:sp>
      <p:sp>
        <p:nvSpPr>
          <p:cNvPr id="8" name="TextBox 7"/>
          <p:cNvSpPr txBox="1"/>
          <p:nvPr/>
        </p:nvSpPr>
        <p:spPr>
          <a:xfrm>
            <a:off x="1737360" y="1783080"/>
            <a:ext cx="4032504" cy="777240"/>
          </a:xfrm>
          <a:prstGeom prst="rect">
            <a:avLst/>
          </a:prstGeom>
          <a:noFill/>
        </p:spPr>
        <p:txBody>
          <a:bodyPr wrap="square">
            <a:spAutoFit/>
          </a:bodyPr>
          <a:lstStyle/>
          <a:p>
            <a:pPr>
              <a:defRPr sz="1350" b="1">
                <a:solidFill>
                  <a:srgbClr val="0F172A"/>
                </a:solidFill>
                <a:latin typeface="Calibri"/>
              </a:defRPr>
            </a:pPr>
            <a:r>
              <a:t>Contextualização</a:t>
            </a:r>
          </a:p>
          <a:p>
            <a:pPr>
              <a:spcBef>
                <a:spcPts val="200"/>
              </a:spcBef>
              <a:defRPr sz="1000">
                <a:solidFill>
                  <a:srgbClr val="64748B"/>
                </a:solidFill>
                <a:latin typeface="Calibri"/>
              </a:defRPr>
            </a:pPr>
            <a:r>
              <a:t>A trajetória do Projeto JULIUS: da extração à IA conversacional.</a:t>
            </a:r>
          </a:p>
        </p:txBody>
      </p:sp>
      <p:sp>
        <p:nvSpPr>
          <p:cNvPr id="9" name="Rounded Rectangle 8"/>
          <p:cNvSpPr/>
          <p:nvPr/>
        </p:nvSpPr>
        <p:spPr>
          <a:xfrm>
            <a:off x="731520" y="2862072"/>
            <a:ext cx="5175504"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026664"/>
            <a:ext cx="731520" cy="731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026664"/>
            <a:ext cx="731520" cy="731520"/>
          </a:xfrm>
          <a:prstGeom prst="rect">
            <a:avLst/>
          </a:prstGeom>
          <a:noFill/>
        </p:spPr>
        <p:txBody>
          <a:bodyPr wrap="square" anchor="ctr">
            <a:spAutoFit/>
          </a:bodyPr>
          <a:lstStyle/>
          <a:p>
            <a:pPr algn="ctr">
              <a:defRPr sz="1800" b="1">
                <a:solidFill>
                  <a:srgbClr val="2563EB"/>
                </a:solidFill>
                <a:latin typeface="Calibri"/>
              </a:defRPr>
            </a:pPr>
            <a:r>
              <a:t>02</a:t>
            </a:r>
          </a:p>
        </p:txBody>
      </p:sp>
      <p:sp>
        <p:nvSpPr>
          <p:cNvPr id="12" name="TextBox 11"/>
          <p:cNvSpPr txBox="1"/>
          <p:nvPr/>
        </p:nvSpPr>
        <p:spPr>
          <a:xfrm>
            <a:off x="1737360" y="2999232"/>
            <a:ext cx="4032504" cy="777240"/>
          </a:xfrm>
          <a:prstGeom prst="rect">
            <a:avLst/>
          </a:prstGeom>
          <a:noFill/>
        </p:spPr>
        <p:txBody>
          <a:bodyPr wrap="square">
            <a:spAutoFit/>
          </a:bodyPr>
          <a:lstStyle/>
          <a:p>
            <a:pPr>
              <a:defRPr sz="1350" b="1">
                <a:solidFill>
                  <a:srgbClr val="0F172A"/>
                </a:solidFill>
                <a:latin typeface="Calibri"/>
              </a:defRPr>
            </a:pPr>
            <a:r>
              <a:t>Importância e Ineditismo</a:t>
            </a:r>
          </a:p>
          <a:p>
            <a:pPr>
              <a:spcBef>
                <a:spcPts val="200"/>
              </a:spcBef>
              <a:defRPr sz="1000">
                <a:solidFill>
                  <a:srgbClr val="64748B"/>
                </a:solidFill>
                <a:latin typeface="Calibri"/>
              </a:defRPr>
            </a:pPr>
            <a:r>
              <a:t>Por que este estudo é indispensável e a lacuna nos benchmarks de NLP.</a:t>
            </a:r>
          </a:p>
        </p:txBody>
      </p:sp>
      <p:sp>
        <p:nvSpPr>
          <p:cNvPr id="13" name="Rounded Rectangle 12"/>
          <p:cNvSpPr/>
          <p:nvPr/>
        </p:nvSpPr>
        <p:spPr>
          <a:xfrm>
            <a:off x="731520" y="4078224"/>
            <a:ext cx="5175504"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4242816"/>
            <a:ext cx="731520" cy="731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242816"/>
            <a:ext cx="731520" cy="731520"/>
          </a:xfrm>
          <a:prstGeom prst="rect">
            <a:avLst/>
          </a:prstGeom>
          <a:noFill/>
        </p:spPr>
        <p:txBody>
          <a:bodyPr wrap="square" anchor="ctr">
            <a:spAutoFit/>
          </a:bodyPr>
          <a:lstStyle/>
          <a:p>
            <a:pPr algn="ctr">
              <a:defRPr sz="1800" b="1">
                <a:solidFill>
                  <a:srgbClr val="2563EB"/>
                </a:solidFill>
                <a:latin typeface="Calibri"/>
              </a:defRPr>
            </a:pPr>
            <a:r>
              <a:t>03</a:t>
            </a:r>
          </a:p>
        </p:txBody>
      </p:sp>
      <p:sp>
        <p:nvSpPr>
          <p:cNvPr id="16" name="TextBox 15"/>
          <p:cNvSpPr txBox="1"/>
          <p:nvPr/>
        </p:nvSpPr>
        <p:spPr>
          <a:xfrm>
            <a:off x="1737360" y="4215384"/>
            <a:ext cx="4032504" cy="777240"/>
          </a:xfrm>
          <a:prstGeom prst="rect">
            <a:avLst/>
          </a:prstGeom>
          <a:noFill/>
        </p:spPr>
        <p:txBody>
          <a:bodyPr wrap="square">
            <a:spAutoFit/>
          </a:bodyPr>
          <a:lstStyle/>
          <a:p>
            <a:pPr>
              <a:defRPr sz="1350" b="1">
                <a:solidFill>
                  <a:srgbClr val="0F172A"/>
                </a:solidFill>
                <a:latin typeface="Calibri"/>
              </a:defRPr>
            </a:pPr>
            <a:r>
              <a:t>Problema e Objetivos</a:t>
            </a:r>
          </a:p>
          <a:p>
            <a:pPr>
              <a:spcBef>
                <a:spcPts val="200"/>
              </a:spcBef>
              <a:defRPr sz="1000">
                <a:solidFill>
                  <a:srgbClr val="64748B"/>
                </a:solidFill>
                <a:latin typeface="Calibri"/>
              </a:defRPr>
            </a:pPr>
            <a:r>
              <a:t>A pergunta condutora da pesquisa e os objetivos geral e específicos.</a:t>
            </a:r>
          </a:p>
        </p:txBody>
      </p:sp>
      <p:sp>
        <p:nvSpPr>
          <p:cNvPr id="17" name="Rounded Rectangle 16"/>
          <p:cNvSpPr/>
          <p:nvPr/>
        </p:nvSpPr>
        <p:spPr>
          <a:xfrm>
            <a:off x="731520" y="5294376"/>
            <a:ext cx="5175504"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 y="5458968"/>
            <a:ext cx="731520" cy="731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458968"/>
            <a:ext cx="731520" cy="731520"/>
          </a:xfrm>
          <a:prstGeom prst="rect">
            <a:avLst/>
          </a:prstGeom>
          <a:noFill/>
        </p:spPr>
        <p:txBody>
          <a:bodyPr wrap="square" anchor="ctr">
            <a:spAutoFit/>
          </a:bodyPr>
          <a:lstStyle/>
          <a:p>
            <a:pPr algn="ctr">
              <a:defRPr sz="1800" b="1">
                <a:solidFill>
                  <a:srgbClr val="2563EB"/>
                </a:solidFill>
                <a:latin typeface="Calibri"/>
              </a:defRPr>
            </a:pPr>
            <a:r>
              <a:t>04</a:t>
            </a:r>
          </a:p>
        </p:txBody>
      </p:sp>
      <p:sp>
        <p:nvSpPr>
          <p:cNvPr id="20" name="TextBox 19"/>
          <p:cNvSpPr txBox="1"/>
          <p:nvPr/>
        </p:nvSpPr>
        <p:spPr>
          <a:xfrm>
            <a:off x="1737360" y="5431536"/>
            <a:ext cx="4032504" cy="777240"/>
          </a:xfrm>
          <a:prstGeom prst="rect">
            <a:avLst/>
          </a:prstGeom>
          <a:noFill/>
        </p:spPr>
        <p:txBody>
          <a:bodyPr wrap="square">
            <a:spAutoFit/>
          </a:bodyPr>
          <a:lstStyle/>
          <a:p>
            <a:pPr>
              <a:defRPr sz="1350" b="1">
                <a:solidFill>
                  <a:srgbClr val="0F172A"/>
                </a:solidFill>
                <a:latin typeface="Calibri"/>
              </a:defRPr>
            </a:pPr>
            <a:r>
              <a:t>Engenharia de Dados</a:t>
            </a:r>
          </a:p>
          <a:p>
            <a:pPr>
              <a:spcBef>
                <a:spcPts val="200"/>
              </a:spcBef>
              <a:defRPr sz="1000">
                <a:solidFill>
                  <a:srgbClr val="64748B"/>
                </a:solidFill>
                <a:latin typeface="Calibri"/>
              </a:defRPr>
            </a:pPr>
            <a:r>
              <a:t>O pipeline até a base analítica: web scraping, DuckDB e extração híbrida.</a:t>
            </a:r>
          </a:p>
        </p:txBody>
      </p:sp>
      <p:sp>
        <p:nvSpPr>
          <p:cNvPr id="21" name="Rounded Rectangle 20"/>
          <p:cNvSpPr/>
          <p:nvPr/>
        </p:nvSpPr>
        <p:spPr>
          <a:xfrm>
            <a:off x="6272784" y="1645920"/>
            <a:ext cx="5175504"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9944" y="1810512"/>
            <a:ext cx="731520" cy="731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1810512"/>
            <a:ext cx="731520" cy="731520"/>
          </a:xfrm>
          <a:prstGeom prst="rect">
            <a:avLst/>
          </a:prstGeom>
          <a:noFill/>
        </p:spPr>
        <p:txBody>
          <a:bodyPr wrap="square" anchor="ctr">
            <a:spAutoFit/>
          </a:bodyPr>
          <a:lstStyle/>
          <a:p>
            <a:pPr algn="ctr">
              <a:defRPr sz="1800" b="1">
                <a:solidFill>
                  <a:srgbClr val="2563EB"/>
                </a:solidFill>
                <a:latin typeface="Calibri"/>
              </a:defRPr>
            </a:pPr>
            <a:r>
              <a:t>05</a:t>
            </a:r>
          </a:p>
        </p:txBody>
      </p:sp>
      <p:sp>
        <p:nvSpPr>
          <p:cNvPr id="24" name="TextBox 23"/>
          <p:cNvSpPr txBox="1"/>
          <p:nvPr/>
        </p:nvSpPr>
        <p:spPr>
          <a:xfrm>
            <a:off x="7278624" y="1783080"/>
            <a:ext cx="4032504" cy="777240"/>
          </a:xfrm>
          <a:prstGeom prst="rect">
            <a:avLst/>
          </a:prstGeom>
          <a:noFill/>
        </p:spPr>
        <p:txBody>
          <a:bodyPr wrap="square">
            <a:spAutoFit/>
          </a:bodyPr>
          <a:lstStyle/>
          <a:p>
            <a:pPr>
              <a:defRPr sz="1350" b="1">
                <a:solidFill>
                  <a:srgbClr val="0F172A"/>
                </a:solidFill>
                <a:latin typeface="Calibri"/>
              </a:defRPr>
            </a:pPr>
            <a:r>
              <a:t>Modelos Selecionados</a:t>
            </a:r>
          </a:p>
          <a:p>
            <a:pPr>
              <a:spcBef>
                <a:spcPts val="200"/>
              </a:spcBef>
              <a:defRPr sz="1000">
                <a:solidFill>
                  <a:srgbClr val="64748B"/>
                </a:solidFill>
                <a:latin typeface="Calibri"/>
              </a:defRPr>
            </a:pPr>
            <a:r>
              <a:t>As 4 arquiteturas vetoriais em avaliação (OpenAI, E5, BGE-M3 e BERTimbau).</a:t>
            </a:r>
          </a:p>
        </p:txBody>
      </p:sp>
      <p:sp>
        <p:nvSpPr>
          <p:cNvPr id="25" name="Rounded Rectangle 24"/>
          <p:cNvSpPr/>
          <p:nvPr/>
        </p:nvSpPr>
        <p:spPr>
          <a:xfrm>
            <a:off x="6272784" y="2862072"/>
            <a:ext cx="5175504"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9944" y="3026664"/>
            <a:ext cx="731520" cy="731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3026664"/>
            <a:ext cx="731520" cy="731520"/>
          </a:xfrm>
          <a:prstGeom prst="rect">
            <a:avLst/>
          </a:prstGeom>
          <a:noFill/>
        </p:spPr>
        <p:txBody>
          <a:bodyPr wrap="square" anchor="ctr">
            <a:spAutoFit/>
          </a:bodyPr>
          <a:lstStyle/>
          <a:p>
            <a:pPr algn="ctr">
              <a:defRPr sz="1800" b="1">
                <a:solidFill>
                  <a:srgbClr val="2563EB"/>
                </a:solidFill>
                <a:latin typeface="Calibri"/>
              </a:defRPr>
            </a:pPr>
            <a:r>
              <a:t>06</a:t>
            </a:r>
          </a:p>
        </p:txBody>
      </p:sp>
      <p:sp>
        <p:nvSpPr>
          <p:cNvPr id="28" name="TextBox 27"/>
          <p:cNvSpPr txBox="1"/>
          <p:nvPr/>
        </p:nvSpPr>
        <p:spPr>
          <a:xfrm>
            <a:off x="7278624" y="2999232"/>
            <a:ext cx="4032504" cy="777240"/>
          </a:xfrm>
          <a:prstGeom prst="rect">
            <a:avLst/>
          </a:prstGeom>
          <a:noFill/>
        </p:spPr>
        <p:txBody>
          <a:bodyPr wrap="square">
            <a:spAutoFit/>
          </a:bodyPr>
          <a:lstStyle/>
          <a:p>
            <a:pPr>
              <a:defRPr sz="1350" b="1">
                <a:solidFill>
                  <a:srgbClr val="0F172A"/>
                </a:solidFill>
                <a:latin typeface="Calibri"/>
              </a:defRPr>
            </a:pPr>
            <a:r>
              <a:t>Resultados Parciais</a:t>
            </a:r>
          </a:p>
          <a:p>
            <a:pPr>
              <a:spcBef>
                <a:spcPts val="200"/>
              </a:spcBef>
              <a:defRPr sz="1000">
                <a:solidFill>
                  <a:srgbClr val="64748B"/>
                </a:solidFill>
                <a:latin typeface="Calibri"/>
              </a:defRPr>
            </a:pPr>
            <a:r>
              <a:t>O que já está concluído no TCC 1: diagnóstico do acervo e baseline gerado.</a:t>
            </a:r>
          </a:p>
        </p:txBody>
      </p:sp>
      <p:sp>
        <p:nvSpPr>
          <p:cNvPr id="29" name="Rounded Rectangle 28"/>
          <p:cNvSpPr/>
          <p:nvPr/>
        </p:nvSpPr>
        <p:spPr>
          <a:xfrm>
            <a:off x="6272784" y="4078224"/>
            <a:ext cx="5175504"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09944" y="4242816"/>
            <a:ext cx="731520" cy="731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4242816"/>
            <a:ext cx="731520" cy="731520"/>
          </a:xfrm>
          <a:prstGeom prst="rect">
            <a:avLst/>
          </a:prstGeom>
          <a:noFill/>
        </p:spPr>
        <p:txBody>
          <a:bodyPr wrap="square" anchor="ctr">
            <a:spAutoFit/>
          </a:bodyPr>
          <a:lstStyle/>
          <a:p>
            <a:pPr algn="ctr">
              <a:defRPr sz="1800" b="1">
                <a:solidFill>
                  <a:srgbClr val="2563EB"/>
                </a:solidFill>
                <a:latin typeface="Calibri"/>
              </a:defRPr>
            </a:pPr>
            <a:r>
              <a:t>07</a:t>
            </a:r>
          </a:p>
        </p:txBody>
      </p:sp>
      <p:sp>
        <p:nvSpPr>
          <p:cNvPr id="32" name="TextBox 31"/>
          <p:cNvSpPr txBox="1"/>
          <p:nvPr/>
        </p:nvSpPr>
        <p:spPr>
          <a:xfrm>
            <a:off x="7278624" y="4215384"/>
            <a:ext cx="4032504" cy="777240"/>
          </a:xfrm>
          <a:prstGeom prst="rect">
            <a:avLst/>
          </a:prstGeom>
          <a:noFill/>
        </p:spPr>
        <p:txBody>
          <a:bodyPr wrap="square">
            <a:spAutoFit/>
          </a:bodyPr>
          <a:lstStyle/>
          <a:p>
            <a:pPr>
              <a:defRPr sz="1350" b="1">
                <a:solidFill>
                  <a:srgbClr val="0F172A"/>
                </a:solidFill>
                <a:latin typeface="Calibri"/>
              </a:defRPr>
            </a:pPr>
            <a:r>
              <a:t>Planejamento Experimental</a:t>
            </a:r>
          </a:p>
          <a:p>
            <a:pPr>
              <a:spcBef>
                <a:spcPts val="200"/>
              </a:spcBef>
              <a:defRPr sz="1000">
                <a:solidFill>
                  <a:srgbClr val="64748B"/>
                </a:solidFill>
                <a:latin typeface="Calibri"/>
              </a:defRPr>
            </a:pPr>
            <a:r>
              <a:t>Golden Dataset, métricas de RI, teste de hipótese de Wilcoxon e latência.</a:t>
            </a:r>
          </a:p>
        </p:txBody>
      </p:sp>
      <p:sp>
        <p:nvSpPr>
          <p:cNvPr id="33" name="Rounded Rectangle 32"/>
          <p:cNvSpPr/>
          <p:nvPr/>
        </p:nvSpPr>
        <p:spPr>
          <a:xfrm>
            <a:off x="6272784" y="5294376"/>
            <a:ext cx="5175504"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09944" y="5458968"/>
            <a:ext cx="731520" cy="731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9944" y="5458968"/>
            <a:ext cx="731520" cy="731520"/>
          </a:xfrm>
          <a:prstGeom prst="rect">
            <a:avLst/>
          </a:prstGeom>
          <a:noFill/>
        </p:spPr>
        <p:txBody>
          <a:bodyPr wrap="square" anchor="ctr">
            <a:spAutoFit/>
          </a:bodyPr>
          <a:lstStyle/>
          <a:p>
            <a:pPr algn="ctr">
              <a:defRPr sz="1800" b="1">
                <a:solidFill>
                  <a:srgbClr val="2563EB"/>
                </a:solidFill>
                <a:latin typeface="Calibri"/>
              </a:defRPr>
            </a:pPr>
            <a:r>
              <a:t>08</a:t>
            </a:r>
          </a:p>
        </p:txBody>
      </p:sp>
      <p:sp>
        <p:nvSpPr>
          <p:cNvPr id="36" name="TextBox 35"/>
          <p:cNvSpPr txBox="1"/>
          <p:nvPr/>
        </p:nvSpPr>
        <p:spPr>
          <a:xfrm>
            <a:off x="7278624" y="5431536"/>
            <a:ext cx="4032504" cy="777240"/>
          </a:xfrm>
          <a:prstGeom prst="rect">
            <a:avLst/>
          </a:prstGeom>
          <a:noFill/>
        </p:spPr>
        <p:txBody>
          <a:bodyPr wrap="square">
            <a:spAutoFit/>
          </a:bodyPr>
          <a:lstStyle/>
          <a:p>
            <a:pPr>
              <a:defRPr sz="1350" b="1">
                <a:solidFill>
                  <a:srgbClr val="0F172A"/>
                </a:solidFill>
                <a:latin typeface="Calibri"/>
              </a:defRPr>
            </a:pPr>
            <a:r>
              <a:t>Cronograma e Referências</a:t>
            </a:r>
          </a:p>
          <a:p>
            <a:pPr>
              <a:spcBef>
                <a:spcPts val="200"/>
              </a:spcBef>
              <a:defRPr sz="1000">
                <a:solidFill>
                  <a:srgbClr val="64748B"/>
                </a:solidFill>
                <a:latin typeface="Calibri"/>
              </a:defRPr>
            </a:pPr>
            <a:r>
              <a:t>Roteiro dos próximos passos para o TCC 2 e principais referências.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1. CONTEXTUALIZAÇÃO &amp; STORYTELLING</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A Origem do JULIUS e a Necessidade da Busca Semântica</a:t>
            </a:r>
          </a:p>
        </p:txBody>
      </p:sp>
      <p:sp>
        <p:nvSpPr>
          <p:cNvPr id="5" name="Rounded Rectangle 4"/>
          <p:cNvSpPr/>
          <p:nvPr/>
        </p:nvSpPr>
        <p:spPr>
          <a:xfrm>
            <a:off x="731520" y="1600200"/>
            <a:ext cx="3328416"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2962656" cy="3383280"/>
          </a:xfrm>
          <a:prstGeom prst="rect">
            <a:avLst/>
          </a:prstGeom>
          <a:noFill/>
        </p:spPr>
        <p:txBody>
          <a:bodyPr wrap="square">
            <a:spAutoFit/>
          </a:bodyPr>
          <a:lstStyle/>
          <a:p>
            <a:pPr>
              <a:defRPr sz="1500" b="1">
                <a:solidFill>
                  <a:srgbClr val="0F172A"/>
                </a:solidFill>
                <a:latin typeface="Calibri"/>
              </a:defRPr>
            </a:pPr>
            <a:r>
              <a:t>1. O JULIUS no Início</a:t>
            </a:r>
          </a:p>
          <a:p>
            <a:pPr>
              <a:spcBef>
                <a:spcPts val="800"/>
              </a:spcBef>
              <a:defRPr sz="1100">
                <a:solidFill>
                  <a:srgbClr val="1E293B"/>
                </a:solidFill>
                <a:latin typeface="Calibri"/>
              </a:defRPr>
            </a:pPr>
            <a:r>
              <a:t>• Iniciativa desenvolvida no Ministério Público (MPES) voltada originalmente à extração automatizada de dados em portais da transparência.</a:t>
            </a:r>
          </a:p>
          <a:p>
            <a:pPr>
              <a:spcBef>
                <a:spcPts val="800"/>
              </a:spcBef>
              <a:defRPr sz="1100">
                <a:solidFill>
                  <a:srgbClr val="1E293B"/>
                </a:solidFill>
                <a:latin typeface="Calibri"/>
              </a:defRPr>
            </a:pPr>
            <a:r>
              <a:t>• Foco inicial em auditoria técnica e consolidação de tabelas de licitações e contratos.</a:t>
            </a:r>
          </a:p>
          <a:p>
            <a:pPr>
              <a:spcBef>
                <a:spcPts val="800"/>
              </a:spcBef>
              <a:defRPr sz="1100">
                <a:solidFill>
                  <a:srgbClr val="1E293B"/>
                </a:solidFill>
                <a:latin typeface="Calibri"/>
              </a:defRPr>
            </a:pPr>
            <a:r>
              <a:t>• Desafio: o cidadão comum e o auditor continuavam precisando navegar manualmente por centenas de PDFs complexos para encontrar respostas simples.</a:t>
            </a:r>
          </a:p>
        </p:txBody>
      </p:sp>
      <p:sp>
        <p:nvSpPr>
          <p:cNvPr id="7" name="Rounded Rectangle 6"/>
          <p:cNvSpPr/>
          <p:nvPr/>
        </p:nvSpPr>
        <p:spPr>
          <a:xfrm>
            <a:off x="4425696" y="1600200"/>
            <a:ext cx="3328416"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737360"/>
            <a:ext cx="2962656" cy="3383280"/>
          </a:xfrm>
          <a:prstGeom prst="rect">
            <a:avLst/>
          </a:prstGeom>
          <a:noFill/>
        </p:spPr>
        <p:txBody>
          <a:bodyPr wrap="square">
            <a:spAutoFit/>
          </a:bodyPr>
          <a:lstStyle/>
          <a:p>
            <a:pPr>
              <a:defRPr sz="1500" b="1">
                <a:solidFill>
                  <a:srgbClr val="2563EB"/>
                </a:solidFill>
                <a:latin typeface="Calibri"/>
              </a:defRPr>
            </a:pPr>
            <a:r>
              <a:t>2. A Evolução para Chatbot</a:t>
            </a:r>
          </a:p>
          <a:p>
            <a:pPr>
              <a:spcBef>
                <a:spcPts val="800"/>
              </a:spcBef>
              <a:defRPr sz="1100">
                <a:solidFill>
                  <a:srgbClr val="1E293B"/>
                </a:solidFill>
                <a:latin typeface="Calibri"/>
              </a:defRPr>
            </a:pPr>
            <a:r>
              <a:t>• Demanda Originária: A Prefeitura de São Gabriel da Palha procurou o Ministério Público buscando modernizar o acesso à sua base pública.</a:t>
            </a:r>
          </a:p>
          <a:p>
            <a:pPr>
              <a:spcBef>
                <a:spcPts val="800"/>
              </a:spcBef>
              <a:defRPr sz="1100">
                <a:solidFill>
                  <a:srgbClr val="1E293B"/>
                </a:solidFill>
                <a:latin typeface="Calibri"/>
              </a:defRPr>
            </a:pPr>
            <a:r>
              <a:t>• A Virada de Chave: Transformar o extrator tradicional em um agente conversacional inteligente (Chatbot governamental).</a:t>
            </a:r>
          </a:p>
          <a:p>
            <a:pPr>
              <a:spcBef>
                <a:spcPts val="800"/>
              </a:spcBef>
              <a:defRPr sz="1100">
                <a:solidFill>
                  <a:srgbClr val="1E293B"/>
                </a:solidFill>
                <a:latin typeface="Calibri"/>
              </a:defRPr>
            </a:pPr>
            <a:r>
              <a:t>• Escopo Estadual: Visão de construir um assistente capaz de atender a múltiplos municípios do Estado do Espírito Santo.</a:t>
            </a:r>
          </a:p>
        </p:txBody>
      </p:sp>
      <p:sp>
        <p:nvSpPr>
          <p:cNvPr id="9" name="Rounded Rectangle 8"/>
          <p:cNvSpPr/>
          <p:nvPr/>
        </p:nvSpPr>
        <p:spPr>
          <a:xfrm>
            <a:off x="8119872" y="1600200"/>
            <a:ext cx="3328416"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737360"/>
            <a:ext cx="2962656" cy="3383280"/>
          </a:xfrm>
          <a:prstGeom prst="rect">
            <a:avLst/>
          </a:prstGeom>
          <a:noFill/>
        </p:spPr>
        <p:txBody>
          <a:bodyPr wrap="square">
            <a:spAutoFit/>
          </a:bodyPr>
          <a:lstStyle/>
          <a:p>
            <a:pPr>
              <a:defRPr sz="1500" b="1">
                <a:solidFill>
                  <a:srgbClr val="0D9488"/>
                </a:solidFill>
                <a:latin typeface="Calibri"/>
              </a:defRPr>
            </a:pPr>
            <a:r>
              <a:t>3. Onde a Busca se Encaixa</a:t>
            </a:r>
          </a:p>
          <a:p>
            <a:pPr>
              <a:spcBef>
                <a:spcPts val="800"/>
              </a:spcBef>
              <a:defRPr sz="1100">
                <a:solidFill>
                  <a:srgbClr val="1E293B"/>
                </a:solidFill>
                <a:latin typeface="Calibri"/>
              </a:defRPr>
            </a:pPr>
            <a:r>
              <a:t>• Arquitetura RAG (Recuperação Aumentada por Geração): O modelo gerador (LLM) não 'sabe' os contratos de cabeça; ele precisa que o sistema recupere os trechos corretos.</a:t>
            </a:r>
          </a:p>
          <a:p>
            <a:pPr>
              <a:spcBef>
                <a:spcPts val="800"/>
              </a:spcBef>
              <a:defRPr sz="1100">
                <a:solidFill>
                  <a:srgbClr val="1E293B"/>
                </a:solidFill>
                <a:latin typeface="Calibri"/>
              </a:defRPr>
            </a:pPr>
            <a:r>
              <a:t>• Papel dos Embeddings: Traduzir a pergunta do usuário e os documentos em vetores semânticos comparáveis.</a:t>
            </a:r>
          </a:p>
          <a:p>
            <a:pPr>
              <a:spcBef>
                <a:spcPts val="800"/>
              </a:spcBef>
              <a:defRPr sz="1100">
                <a:solidFill>
                  <a:srgbClr val="1E293B"/>
                </a:solidFill>
                <a:latin typeface="Calibri"/>
              </a:defRPr>
            </a:pPr>
            <a:r>
              <a:t>• Gargalo Crítico: Se a busca vetorial falhar, o modelo generativo subsequente alucina, gerando respostas incorretas com aparência de verdade.</a:t>
            </a:r>
          </a:p>
        </p:txBody>
      </p:sp>
      <p:sp>
        <p:nvSpPr>
          <p:cNvPr id="11" name="Rounded Rectangle 10"/>
          <p:cNvSpPr/>
          <p:nvPr/>
        </p:nvSpPr>
        <p:spPr>
          <a:xfrm>
            <a:off x="731520" y="5440680"/>
            <a:ext cx="10716768" cy="8686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04688"/>
            <a:ext cx="10351008" cy="777240"/>
          </a:xfrm>
          <a:prstGeom prst="rect">
            <a:avLst/>
          </a:prstGeom>
          <a:noFill/>
        </p:spPr>
        <p:txBody>
          <a:bodyPr wrap="square">
            <a:spAutoFit/>
          </a:bodyPr>
          <a:lstStyle/>
          <a:p>
            <a:pPr>
              <a:defRPr sz="1250" b="1">
                <a:solidFill>
                  <a:srgbClr val="2563EB"/>
                </a:solidFill>
                <a:latin typeface="Calibri"/>
              </a:defRPr>
            </a:pPr>
            <a:r>
              <a:t>Conclusão do Storytelling: O chatbot só é confiável se a recuperação semântica for precisa. Portanto, a escolha matemática do modelo de embeddings é a decisão mais crítica de todo o projeto.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1.1 JUSTIFICATIVA &amp; INEDITISMO</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Por que este estudo importa e por que ainda não foi estudado?</a:t>
            </a:r>
          </a:p>
        </p:txBody>
      </p:sp>
      <p:sp>
        <p:nvSpPr>
          <p:cNvPr id="5" name="Rounded Rectangle 4"/>
          <p:cNvSpPr/>
          <p:nvPr/>
        </p:nvSpPr>
        <p:spPr>
          <a:xfrm>
            <a:off x="731520" y="1600200"/>
            <a:ext cx="5175504"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626864" cy="4434840"/>
          </a:xfrm>
          <a:prstGeom prst="rect">
            <a:avLst/>
          </a:prstGeom>
          <a:noFill/>
        </p:spPr>
        <p:txBody>
          <a:bodyPr wrap="square">
            <a:spAutoFit/>
          </a:bodyPr>
          <a:lstStyle/>
          <a:p>
            <a:pPr>
              <a:defRPr sz="1600" b="1">
                <a:solidFill>
                  <a:srgbClr val="0F172A"/>
                </a:solidFill>
                <a:latin typeface="Calibri"/>
              </a:defRPr>
            </a:pPr>
            <a:r>
              <a:t>Por que este estudo importa?</a:t>
            </a:r>
          </a:p>
          <a:p>
            <a:pPr>
              <a:spcBef>
                <a:spcPts val="800"/>
              </a:spcBef>
              <a:defRPr sz="1100">
                <a:solidFill>
                  <a:srgbClr val="1E293B"/>
                </a:solidFill>
                <a:latin typeface="Calibri"/>
              </a:defRPr>
            </a:pPr>
            <a:r>
              <a:t>• Impacto Social e Democrático: A Lei de Acesso à Informação (Lei 12.527/2011) garante o direito à informação, mas a transparência só é efetiva se for compreensível e ágil para o cidadão comum.</a:t>
            </a:r>
          </a:p>
          <a:p>
            <a:pPr>
              <a:spcBef>
                <a:spcPts val="800"/>
              </a:spcBef>
              <a:defRPr sz="1100">
                <a:solidFill>
                  <a:srgbClr val="1E293B"/>
                </a:solidFill>
                <a:latin typeface="Calibri"/>
              </a:defRPr>
            </a:pPr>
            <a:r>
              <a:t>• Mitigação Real de Alucinações: Em sistemas RAG governamentais, uma recuperação imprecisa gera dados inventados sobre verbas e contratos, o que é inaceitável para órgãos de controle.</a:t>
            </a:r>
          </a:p>
          <a:p>
            <a:pPr>
              <a:spcBef>
                <a:spcPts val="800"/>
              </a:spcBef>
              <a:defRPr sz="1100">
                <a:solidFill>
                  <a:srgbClr val="1E293B"/>
                </a:solidFill>
                <a:latin typeface="Calibri"/>
              </a:defRPr>
            </a:pPr>
            <a:r>
              <a:t>• Eficiência nos Serviços Públicos: Permite a auditores do MP e servidores municipais analisar atos licitatórios em segundos, acelerando fiscalizações e respostas a denúncias.</a:t>
            </a:r>
          </a:p>
          <a:p>
            <a:pPr>
              <a:spcBef>
                <a:spcPts val="800"/>
              </a:spcBef>
              <a:defRPr sz="1100">
                <a:solidFill>
                  <a:srgbClr val="1E293B"/>
                </a:solidFill>
                <a:latin typeface="Calibri"/>
              </a:defRPr>
            </a:pPr>
            <a:r>
              <a:t>• Soberania e Otimização de Custos: Avaliar modelos abertos locais versus APIs proprietárias define se prefeituras de pequeno porte podem manter soluções sem custos proibitivos de nuvem.</a:t>
            </a:r>
          </a:p>
        </p:txBody>
      </p:sp>
      <p:sp>
        <p:nvSpPr>
          <p:cNvPr id="7" name="Rounded Rectangle 6"/>
          <p:cNvSpPr/>
          <p:nvPr/>
        </p:nvSpPr>
        <p:spPr>
          <a:xfrm>
            <a:off x="6272784" y="1600200"/>
            <a:ext cx="5175504"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47104" y="1737360"/>
            <a:ext cx="4626864" cy="4434840"/>
          </a:xfrm>
          <a:prstGeom prst="rect">
            <a:avLst/>
          </a:prstGeom>
          <a:noFill/>
        </p:spPr>
        <p:txBody>
          <a:bodyPr wrap="square">
            <a:spAutoFit/>
          </a:bodyPr>
          <a:lstStyle/>
          <a:p>
            <a:pPr>
              <a:defRPr sz="1600" b="1">
                <a:solidFill>
                  <a:srgbClr val="D97706"/>
                </a:solidFill>
                <a:latin typeface="Calibri"/>
              </a:defRPr>
            </a:pPr>
            <a:r>
              <a:t>Por que ainda não foi estudado?</a:t>
            </a:r>
          </a:p>
          <a:p>
            <a:pPr>
              <a:spcBef>
                <a:spcPts val="800"/>
              </a:spcBef>
              <a:defRPr sz="1100">
                <a:solidFill>
                  <a:srgbClr val="1E293B"/>
                </a:solidFill>
                <a:latin typeface="Calibri"/>
              </a:defRPr>
            </a:pPr>
            <a:r>
              <a:t>• Hegemonia de Benchmarks Genéricos: Líderes de rankings de NLP (como MTEB) são avaliados em corpora abertos da web em língua inglesa (artigos da Wikipédia, mídias sociais e fóruns).</a:t>
            </a:r>
          </a:p>
          <a:p>
            <a:pPr>
              <a:spcBef>
                <a:spcPts val="800"/>
              </a:spcBef>
              <a:defRPr sz="1100">
                <a:solidFill>
                  <a:srgbClr val="1E293B"/>
                </a:solidFill>
                <a:latin typeface="Calibri"/>
              </a:defRPr>
            </a:pPr>
            <a:r>
              <a:t>• Singularidade do Jargão Jurídico-Administrativo: Documentos de prefeituras contêm terminologia altamente formal ('repactuação', 'dotação', 'aditivo', 'inadimplemento') ausente em textos genéricos.</a:t>
            </a:r>
          </a:p>
          <a:p>
            <a:pPr>
              <a:spcBef>
                <a:spcPts val="800"/>
              </a:spcBef>
              <a:defRPr sz="1100">
                <a:solidFill>
                  <a:srgbClr val="1E293B"/>
                </a:solidFill>
                <a:latin typeface="Calibri"/>
              </a:defRPr>
            </a:pPr>
            <a:r>
              <a:t>• Complexidade da Extração em Documentos Públicos: Acervos municipais misturam arquivos digitais com documentos físicos escaneados, exigindo pipelines híbridos de OCR raramente abordados na literatura.</a:t>
            </a:r>
          </a:p>
          <a:p>
            <a:pPr>
              <a:spcBef>
                <a:spcPts val="800"/>
              </a:spcBef>
              <a:defRPr sz="1100">
                <a:solidFill>
                  <a:srgbClr val="1E293B"/>
                </a:solidFill>
                <a:latin typeface="Calibri"/>
              </a:defRPr>
            </a:pPr>
            <a:r>
              <a:t>• Carência de Validação Estatística Inferencial: Estudos existentes costumam se limitar a tabelas de métricas descritivas simples, sem conduzir testes não paramétricos pareados de hipótese.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1.2 PROBLEMA DE PESQUISA</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A Questão Condutora e a Delimitação do Estudo de Caso</a:t>
            </a:r>
          </a:p>
        </p:txBody>
      </p:sp>
      <p:sp>
        <p:nvSpPr>
          <p:cNvPr id="5" name="Rounded Rectangle 4"/>
          <p:cNvSpPr/>
          <p:nvPr/>
        </p:nvSpPr>
        <p:spPr>
          <a:xfrm>
            <a:off x="731520" y="1600200"/>
            <a:ext cx="10716768" cy="2011680"/>
          </a:xfrm>
          <a:prstGeom prst="roundRect">
            <a:avLst/>
          </a:prstGeom>
          <a:solidFill>
            <a:srgbClr val="0F172A"/>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10168128" cy="1737360"/>
          </a:xfrm>
          <a:prstGeom prst="rect">
            <a:avLst/>
          </a:prstGeom>
          <a:noFill/>
        </p:spPr>
        <p:txBody>
          <a:bodyPr wrap="square">
            <a:spAutoFit/>
          </a:bodyPr>
          <a:lstStyle/>
          <a:p>
            <a:pPr>
              <a:defRPr sz="1100" b="1">
                <a:solidFill>
                  <a:srgbClr val="60A5FA"/>
                </a:solidFill>
                <a:latin typeface="Calibri"/>
              </a:defRPr>
            </a:pPr>
            <a:r>
              <a:t>QUESTÃO DE PESQUISA (PERGUNTA CONDUTORA)</a:t>
            </a:r>
          </a:p>
          <a:p>
            <a:pPr>
              <a:spcBef>
                <a:spcPts val="800"/>
              </a:spcBef>
              <a:defRPr sz="1700" b="1">
                <a:solidFill>
                  <a:srgbClr val="FFFFFF"/>
                </a:solidFill>
                <a:latin typeface="Calibri"/>
              </a:defRPr>
            </a:pPr>
            <a:r>
              <a:t>“Qual modelo de embeddings apresenta o melhor desempenho na recuperação de informações textuais em documentos públicos em formato PDF provenientes do Portal da Transparência da Prefeitura Municipal de São Gabriel da Palha?”</a:t>
            </a:r>
          </a:p>
        </p:txBody>
      </p:sp>
      <p:sp>
        <p:nvSpPr>
          <p:cNvPr id="7" name="Rounded Rectangle 6"/>
          <p:cNvSpPr/>
          <p:nvPr/>
        </p:nvSpPr>
        <p:spPr>
          <a:xfrm>
            <a:off x="731520" y="3794760"/>
            <a:ext cx="5175504"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931920"/>
            <a:ext cx="4626864" cy="2286000"/>
          </a:xfrm>
          <a:prstGeom prst="rect">
            <a:avLst/>
          </a:prstGeom>
          <a:noFill/>
        </p:spPr>
        <p:txBody>
          <a:bodyPr wrap="square">
            <a:spAutoFit/>
          </a:bodyPr>
          <a:lstStyle/>
          <a:p>
            <a:pPr>
              <a:defRPr sz="1400" b="1">
                <a:solidFill>
                  <a:srgbClr val="2563EB"/>
                </a:solidFill>
                <a:latin typeface="Calibri"/>
              </a:defRPr>
            </a:pPr>
            <a:r>
              <a:t>Delineamento das Variáveis</a:t>
            </a:r>
          </a:p>
          <a:p>
            <a:pPr>
              <a:spcBef>
                <a:spcPts val="400"/>
              </a:spcBef>
              <a:defRPr sz="1050">
                <a:solidFill>
                  <a:srgbClr val="1E293B"/>
                </a:solidFill>
                <a:latin typeface="Calibri"/>
              </a:defRPr>
            </a:pPr>
            <a:r>
              <a:t>• Variável Independente: Modelo de embeddings empregado (OpenAI, E5, BGE-M3, BERTimbau).</a:t>
            </a:r>
          </a:p>
          <a:p>
            <a:pPr>
              <a:spcBef>
                <a:spcPts val="400"/>
              </a:spcBef>
              <a:defRPr sz="1050">
                <a:solidFill>
                  <a:srgbClr val="1E293B"/>
                </a:solidFill>
                <a:latin typeface="Calibri"/>
              </a:defRPr>
            </a:pPr>
            <a:r>
              <a:t>• Variáveis Dependentes: Métricas de eficácia de ranking (Recall@K, Precision@K, MRR, NDCG@K) e latência de inferência (ms).</a:t>
            </a:r>
          </a:p>
          <a:p>
            <a:pPr>
              <a:spcBef>
                <a:spcPts val="400"/>
              </a:spcBef>
              <a:defRPr sz="1050">
                <a:solidFill>
                  <a:srgbClr val="1E293B"/>
                </a:solidFill>
                <a:latin typeface="Calibri"/>
              </a:defRPr>
            </a:pPr>
            <a:r>
              <a:t>• Variáveis Controladas: Acervo fixo de documentos, pré-processamento padronizado, janela de chunking e similaridade angular de cosseno.</a:t>
            </a:r>
          </a:p>
        </p:txBody>
      </p:sp>
      <p:sp>
        <p:nvSpPr>
          <p:cNvPr id="9" name="Rounded Rectangle 8"/>
          <p:cNvSpPr/>
          <p:nvPr/>
        </p:nvSpPr>
        <p:spPr>
          <a:xfrm>
            <a:off x="6272784" y="3794760"/>
            <a:ext cx="5175504"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47104" y="3931920"/>
            <a:ext cx="4626864" cy="2286000"/>
          </a:xfrm>
          <a:prstGeom prst="rect">
            <a:avLst/>
          </a:prstGeom>
          <a:noFill/>
        </p:spPr>
        <p:txBody>
          <a:bodyPr wrap="square">
            <a:spAutoFit/>
          </a:bodyPr>
          <a:lstStyle/>
          <a:p>
            <a:pPr>
              <a:defRPr sz="1400" b="1">
                <a:solidFill>
                  <a:srgbClr val="0D9488"/>
                </a:solidFill>
                <a:latin typeface="Calibri"/>
              </a:defRPr>
            </a:pPr>
            <a:r>
              <a:t>Delimitação em São Gabriel da Palha</a:t>
            </a:r>
          </a:p>
          <a:p>
            <a:pPr>
              <a:spcBef>
                <a:spcPts val="400"/>
              </a:spcBef>
              <a:defRPr sz="1050">
                <a:solidFill>
                  <a:srgbClr val="1E293B"/>
                </a:solidFill>
                <a:latin typeface="Calibri"/>
              </a:defRPr>
            </a:pPr>
            <a:r>
              <a:t>• Estudo de Caso Controlado: Avaliar simultaneamente 78 prefeituras dispersaria a anotação manual e a consistência experimental.</a:t>
            </a:r>
          </a:p>
          <a:p>
            <a:pPr>
              <a:spcBef>
                <a:spcPts val="400"/>
              </a:spcBef>
              <a:defRPr sz="1050">
                <a:solidFill>
                  <a:srgbClr val="1E293B"/>
                </a:solidFill>
                <a:latin typeface="Calibri"/>
              </a:defRPr>
            </a:pPr>
            <a:r>
              <a:t>• Município Piloto Pioneiro: São Gabriel da Palha foi o município que originou a demanda junto ao Ministério Público.</a:t>
            </a:r>
          </a:p>
          <a:p>
            <a:pPr>
              <a:spcBef>
                <a:spcPts val="400"/>
              </a:spcBef>
              <a:defRPr sz="1050">
                <a:solidFill>
                  <a:srgbClr val="1E293B"/>
                </a:solidFill>
                <a:latin typeface="Calibri"/>
              </a:defRPr>
            </a:pPr>
            <a:r>
              <a:t>• Laboratório de Validação: Estabelece as bases metodológicas e o modelo vencedor antes da expansão para os demais municípios capixabas.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1.3 OBJETIVOS DA PESQUISA</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Objetivo Geral e Objetivos Específicos Encadeados</a:t>
            </a:r>
          </a:p>
        </p:txBody>
      </p:sp>
      <p:sp>
        <p:nvSpPr>
          <p:cNvPr id="5" name="Rounded Rectangle 4"/>
          <p:cNvSpPr/>
          <p:nvPr/>
        </p:nvSpPr>
        <p:spPr>
          <a:xfrm>
            <a:off x="731520" y="1600200"/>
            <a:ext cx="10716768" cy="128016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10168128" cy="1097280"/>
          </a:xfrm>
          <a:prstGeom prst="rect">
            <a:avLst/>
          </a:prstGeom>
          <a:noFill/>
        </p:spPr>
        <p:txBody>
          <a:bodyPr wrap="square">
            <a:spAutoFit/>
          </a:bodyPr>
          <a:lstStyle/>
          <a:p>
            <a:pPr>
              <a:defRPr sz="1050" b="1">
                <a:solidFill>
                  <a:srgbClr val="2563EB"/>
                </a:solidFill>
                <a:latin typeface="Calibri"/>
              </a:defRPr>
            </a:pPr>
            <a:r>
              <a:t>OBJETIVO GERAL</a:t>
            </a:r>
          </a:p>
          <a:p>
            <a:pPr>
              <a:spcBef>
                <a:spcPts val="400"/>
              </a:spcBef>
              <a:defRPr sz="1350" b="1">
                <a:solidFill>
                  <a:srgbClr val="0F172A"/>
                </a:solidFill>
                <a:latin typeface="Calibri"/>
              </a:defRPr>
            </a:pPr>
            <a:r>
              <a:t>Avaliar comparativamente o desempenho de diferentes modelos de embeddings na recuperação semântica de informações em um conjunto de documentos públicos não estruturados em formato PDF do Portal da Transparência do Município de São Gabriel da Palha.</a:t>
            </a:r>
          </a:p>
        </p:txBody>
      </p:sp>
      <p:sp>
        <p:nvSpPr>
          <p:cNvPr id="7" name="Rounded Rectangle 6"/>
          <p:cNvSpPr/>
          <p:nvPr/>
        </p:nvSpPr>
        <p:spPr>
          <a:xfrm>
            <a:off x="731520" y="3063240"/>
            <a:ext cx="2542032" cy="3337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00400"/>
            <a:ext cx="2267712" cy="3063240"/>
          </a:xfrm>
          <a:prstGeom prst="rect">
            <a:avLst/>
          </a:prstGeom>
          <a:noFill/>
        </p:spPr>
        <p:txBody>
          <a:bodyPr wrap="square">
            <a:spAutoFit/>
          </a:bodyPr>
          <a:lstStyle/>
          <a:p>
            <a:pPr>
              <a:defRPr sz="1250" b="1">
                <a:solidFill>
                  <a:srgbClr val="2563EB"/>
                </a:solidFill>
                <a:latin typeface="Calibri"/>
              </a:defRPr>
            </a:pPr>
            <a:r>
              <a:t>1. Coleta e Tratamento</a:t>
            </a:r>
          </a:p>
          <a:p>
            <a:pPr>
              <a:spcBef>
                <a:spcPts val="500"/>
              </a:spcBef>
              <a:defRPr sz="1000">
                <a:solidFill>
                  <a:srgbClr val="1E293B"/>
                </a:solidFill>
                <a:latin typeface="Calibri"/>
              </a:defRPr>
            </a:pPr>
            <a:r>
              <a:t>Coletar os atos municipais via web scraping automatizado em ASP.NET.</a:t>
            </a:r>
          </a:p>
          <a:p>
            <a:pPr>
              <a:spcBef>
                <a:spcPts val="500"/>
              </a:spcBef>
              <a:defRPr sz="1000">
                <a:solidFill>
                  <a:srgbClr val="1E293B"/>
                </a:solidFill>
                <a:latin typeface="Calibri"/>
              </a:defRPr>
            </a:pPr>
            <a:r>
              <a:t>Construir rotina híbrida de extração (PyMuPDF + OCR Tesseract).</a:t>
            </a:r>
          </a:p>
          <a:p>
            <a:pPr>
              <a:spcBef>
                <a:spcPts val="500"/>
              </a:spcBef>
              <a:defRPr sz="1000">
                <a:solidFill>
                  <a:srgbClr val="1E293B"/>
                </a:solidFill>
                <a:latin typeface="Calibri"/>
              </a:defRPr>
            </a:pPr>
            <a:r>
              <a:t>Higienizar o texto e segmentar em chunks calibrados no DuckDB.</a:t>
            </a:r>
          </a:p>
        </p:txBody>
      </p:sp>
      <p:sp>
        <p:nvSpPr>
          <p:cNvPr id="9" name="Rounded Rectangle 8"/>
          <p:cNvSpPr/>
          <p:nvPr/>
        </p:nvSpPr>
        <p:spPr>
          <a:xfrm>
            <a:off x="3456432" y="3063240"/>
            <a:ext cx="2542032" cy="3337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3592" y="3200400"/>
            <a:ext cx="2267712" cy="3063240"/>
          </a:xfrm>
          <a:prstGeom prst="rect">
            <a:avLst/>
          </a:prstGeom>
          <a:noFill/>
        </p:spPr>
        <p:txBody>
          <a:bodyPr wrap="square">
            <a:spAutoFit/>
          </a:bodyPr>
          <a:lstStyle/>
          <a:p>
            <a:pPr>
              <a:defRPr sz="1250" b="1">
                <a:solidFill>
                  <a:srgbClr val="0D9488"/>
                </a:solidFill>
                <a:latin typeface="Calibri"/>
              </a:defRPr>
            </a:pPr>
            <a:r>
              <a:t>2. Seleção de Modelos</a:t>
            </a:r>
          </a:p>
          <a:p>
            <a:pPr>
              <a:spcBef>
                <a:spcPts val="500"/>
              </a:spcBef>
              <a:defRPr sz="1000">
                <a:solidFill>
                  <a:srgbClr val="1E293B"/>
                </a:solidFill>
                <a:latin typeface="Calibri"/>
              </a:defRPr>
            </a:pPr>
            <a:r>
              <a:t>Selecionar 4 arquiteturas representativas:</a:t>
            </a:r>
          </a:p>
          <a:p>
            <a:pPr>
              <a:spcBef>
                <a:spcPts val="500"/>
              </a:spcBef>
              <a:defRPr sz="1000">
                <a:solidFill>
                  <a:srgbClr val="1E293B"/>
                </a:solidFill>
                <a:latin typeface="Calibri"/>
              </a:defRPr>
            </a:pPr>
            <a:r>
              <a:t>• Baseline proprietário em nuvem (text-embedding-3-small);</a:t>
            </a:r>
          </a:p>
          <a:p>
            <a:pPr>
              <a:spcBef>
                <a:spcPts val="500"/>
              </a:spcBef>
              <a:defRPr sz="1000">
                <a:solidFill>
                  <a:srgbClr val="1E293B"/>
                </a:solidFill>
                <a:latin typeface="Calibri"/>
              </a:defRPr>
            </a:pPr>
            <a:r>
              <a:t>• Modelos abertos multilíngues (multilingual-e5-base, bge-m3);</a:t>
            </a:r>
          </a:p>
          <a:p>
            <a:pPr>
              <a:spcBef>
                <a:spcPts val="500"/>
              </a:spcBef>
              <a:defRPr sz="1000">
                <a:solidFill>
                  <a:srgbClr val="1E293B"/>
                </a:solidFill>
                <a:latin typeface="Calibri"/>
              </a:defRPr>
            </a:pPr>
            <a:r>
              <a:t>• Modelo especialista nacional (BERTimbau-base-sts).</a:t>
            </a:r>
          </a:p>
        </p:txBody>
      </p:sp>
      <p:sp>
        <p:nvSpPr>
          <p:cNvPr id="11" name="Rounded Rectangle 10"/>
          <p:cNvSpPr/>
          <p:nvPr/>
        </p:nvSpPr>
        <p:spPr>
          <a:xfrm>
            <a:off x="6181344" y="3063240"/>
            <a:ext cx="2542032" cy="3337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18504" y="3200400"/>
            <a:ext cx="2267712" cy="3063240"/>
          </a:xfrm>
          <a:prstGeom prst="rect">
            <a:avLst/>
          </a:prstGeom>
          <a:noFill/>
        </p:spPr>
        <p:txBody>
          <a:bodyPr wrap="square">
            <a:spAutoFit/>
          </a:bodyPr>
          <a:lstStyle/>
          <a:p>
            <a:pPr>
              <a:defRPr sz="1250" b="1">
                <a:solidFill>
                  <a:srgbClr val="7C3AED"/>
                </a:solidFill>
                <a:latin typeface="Calibri"/>
              </a:defRPr>
            </a:pPr>
            <a:r>
              <a:t>3. Protocolo de Testes</a:t>
            </a:r>
          </a:p>
          <a:p>
            <a:pPr>
              <a:spcBef>
                <a:spcPts val="500"/>
              </a:spcBef>
              <a:defRPr sz="1000">
                <a:solidFill>
                  <a:srgbClr val="1E293B"/>
                </a:solidFill>
                <a:latin typeface="Calibri"/>
              </a:defRPr>
            </a:pPr>
            <a:r>
              <a:t>Construir Golden Dataset de 50 a 100 consultas em linguagem natural.</a:t>
            </a:r>
          </a:p>
          <a:p>
            <a:pPr>
              <a:spcBef>
                <a:spcPts val="500"/>
              </a:spcBef>
              <a:defRPr sz="1000">
                <a:solidFill>
                  <a:srgbClr val="1E293B"/>
                </a:solidFill>
                <a:latin typeface="Calibri"/>
              </a:defRPr>
            </a:pPr>
            <a:r>
              <a:t>Rotular manualmente matriz binária de chunks juridicamente relevantes.</a:t>
            </a:r>
          </a:p>
          <a:p>
            <a:pPr>
              <a:spcBef>
                <a:spcPts val="500"/>
              </a:spcBef>
              <a:defRPr sz="1000">
                <a:solidFill>
                  <a:srgbClr val="1E293B"/>
                </a:solidFill>
                <a:latin typeface="Calibri"/>
              </a:defRPr>
            </a:pPr>
            <a:r>
              <a:t>Estruturar métricas de RI (Recall@K, Precision@K, MRR, NDCG@K).</a:t>
            </a:r>
          </a:p>
        </p:txBody>
      </p:sp>
      <p:sp>
        <p:nvSpPr>
          <p:cNvPr id="13" name="Rounded Rectangle 12"/>
          <p:cNvSpPr/>
          <p:nvPr/>
        </p:nvSpPr>
        <p:spPr>
          <a:xfrm>
            <a:off x="8906256" y="3063240"/>
            <a:ext cx="2542032" cy="3337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43416" y="3200400"/>
            <a:ext cx="2267712" cy="3063240"/>
          </a:xfrm>
          <a:prstGeom prst="rect">
            <a:avLst/>
          </a:prstGeom>
          <a:noFill/>
        </p:spPr>
        <p:txBody>
          <a:bodyPr wrap="square">
            <a:spAutoFit/>
          </a:bodyPr>
          <a:lstStyle/>
          <a:p>
            <a:pPr>
              <a:defRPr sz="1250" b="1">
                <a:solidFill>
                  <a:srgbClr val="D97706"/>
                </a:solidFill>
                <a:latin typeface="Calibri"/>
              </a:defRPr>
            </a:pPr>
            <a:r>
              <a:t>4. Avaliação Estatística</a:t>
            </a:r>
          </a:p>
          <a:p>
            <a:pPr>
              <a:spcBef>
                <a:spcPts val="500"/>
              </a:spcBef>
              <a:defRPr sz="1000">
                <a:solidFill>
                  <a:srgbClr val="1E293B"/>
                </a:solidFill>
                <a:latin typeface="Calibri"/>
              </a:defRPr>
            </a:pPr>
            <a:r>
              <a:t>Conduzir busca vetorial por similaridade de cosseno sob controle estrito.</a:t>
            </a:r>
          </a:p>
          <a:p>
            <a:pPr>
              <a:spcBef>
                <a:spcPts val="500"/>
              </a:spcBef>
              <a:defRPr sz="1000">
                <a:solidFill>
                  <a:srgbClr val="1E293B"/>
                </a:solidFill>
                <a:latin typeface="Calibri"/>
              </a:defRPr>
            </a:pPr>
            <a:r>
              <a:t>Aplicar teste não paramétrico de Wilcoxon pareado (alfa = 0,05).</a:t>
            </a:r>
          </a:p>
          <a:p>
            <a:pPr>
              <a:spcBef>
                <a:spcPts val="500"/>
              </a:spcBef>
              <a:defRPr sz="1000">
                <a:solidFill>
                  <a:srgbClr val="1E293B"/>
                </a:solidFill>
                <a:latin typeface="Calibri"/>
              </a:defRPr>
            </a:pPr>
            <a:r>
              <a:t>Aferir latência de inferência e viabilidade computacional no setor público.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3.1 ENGENHARIA DE DADOS (O QUE FOI FEITO)</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Construção do Pipeline: Da Coleta Web ao DuckDB Analítico</a:t>
            </a:r>
          </a:p>
        </p:txBody>
      </p:sp>
      <p:sp>
        <p:nvSpPr>
          <p:cNvPr id="5" name="Rounded Rectangle 4"/>
          <p:cNvSpPr/>
          <p:nvPr/>
        </p:nvSpPr>
        <p:spPr>
          <a:xfrm>
            <a:off x="731520" y="1600200"/>
            <a:ext cx="5175504"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626864" cy="4434840"/>
          </a:xfrm>
          <a:prstGeom prst="rect">
            <a:avLst/>
          </a:prstGeom>
          <a:noFill/>
        </p:spPr>
        <p:txBody>
          <a:bodyPr wrap="square">
            <a:spAutoFit/>
          </a:bodyPr>
          <a:lstStyle/>
          <a:p>
            <a:pPr>
              <a:defRPr sz="1500" b="1">
                <a:solidFill>
                  <a:srgbClr val="2563EB"/>
                </a:solidFill>
                <a:latin typeface="Calibri"/>
              </a:defRPr>
            </a:pPr>
            <a:r>
              <a:t>1. Raspagem Web e SQLite Operacional</a:t>
            </a:r>
          </a:p>
          <a:p>
            <a:pPr>
              <a:spcBef>
                <a:spcPts val="700"/>
              </a:spcBef>
              <a:defRPr sz="1100">
                <a:solidFill>
                  <a:srgbClr val="1E293B"/>
                </a:solidFill>
                <a:latin typeface="Calibri"/>
              </a:defRPr>
            </a:pPr>
            <a:r>
              <a:t>• Desafio da Arquitetura do Portal: Sistema desenvolvido em ASP.NET (Tectrilha) sem API aberta, com páginas baseadas em iframes e paginação assíncrona gerida via JavaScript.</a:t>
            </a:r>
          </a:p>
          <a:p>
            <a:pPr>
              <a:spcBef>
                <a:spcPts val="700"/>
              </a:spcBef>
              <a:defRPr sz="1100">
                <a:solidFill>
                  <a:srgbClr val="1E293B"/>
                </a:solidFill>
                <a:latin typeface="Calibri"/>
              </a:defRPr>
            </a:pPr>
            <a:r>
              <a:t>• Robô de Extração em Python: Integração do Selenium WebDriver (gerenciamento de sessão, gatilhos JS assíncronos e renderização) com BeautifulSoup4 + lxml para parsing de tabelas em alta velocidade.</a:t>
            </a:r>
          </a:p>
          <a:p>
            <a:pPr>
              <a:spcBef>
                <a:spcPts val="700"/>
              </a:spcBef>
              <a:defRPr sz="1100">
                <a:solidFill>
                  <a:srgbClr val="1E293B"/>
                </a:solidFill>
                <a:latin typeface="Calibri"/>
              </a:defRPr>
            </a:pPr>
            <a:r>
              <a:t>• Captura Estruturada de Metadados: Coleta de datas de publicação, vigência, valores homologados, objeto licitado e links diretos para download dos PDFs.</a:t>
            </a:r>
          </a:p>
          <a:p>
            <a:pPr>
              <a:spcBef>
                <a:spcPts val="700"/>
              </a:spcBef>
              <a:defRPr sz="1100">
                <a:solidFill>
                  <a:srgbClr val="1E293B"/>
                </a:solidFill>
                <a:latin typeface="Calibri"/>
              </a:defRPr>
            </a:pPr>
            <a:r>
              <a:t>• SQLite para Controle Operacional: Banco relacional leve usado como fila de controle operacional, garantindo integridade de download, idempotência e recuperação após eventuais falhas de rede.</a:t>
            </a:r>
          </a:p>
        </p:txBody>
      </p:sp>
      <p:sp>
        <p:nvSpPr>
          <p:cNvPr id="7" name="Rounded Rectangle 6"/>
          <p:cNvSpPr/>
          <p:nvPr/>
        </p:nvSpPr>
        <p:spPr>
          <a:xfrm>
            <a:off x="6272784" y="1600200"/>
            <a:ext cx="5175504"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47104" y="1737360"/>
            <a:ext cx="4626864" cy="4434840"/>
          </a:xfrm>
          <a:prstGeom prst="rect">
            <a:avLst/>
          </a:prstGeom>
          <a:noFill/>
        </p:spPr>
        <p:txBody>
          <a:bodyPr wrap="square">
            <a:spAutoFit/>
          </a:bodyPr>
          <a:lstStyle/>
          <a:p>
            <a:pPr>
              <a:defRPr sz="1500" b="1">
                <a:solidFill>
                  <a:srgbClr val="0D9488"/>
                </a:solidFill>
                <a:latin typeface="Calibri"/>
              </a:defRPr>
            </a:pPr>
            <a:r>
              <a:t>2. Armazenamento Analítico no DuckDB</a:t>
            </a:r>
          </a:p>
          <a:p>
            <a:pPr>
              <a:spcBef>
                <a:spcPts val="700"/>
              </a:spcBef>
              <a:defRPr sz="1100">
                <a:solidFill>
                  <a:srgbClr val="1E293B"/>
                </a:solidFill>
                <a:latin typeface="Calibri"/>
              </a:defRPr>
            </a:pPr>
            <a:r>
              <a:t>• Por que o DuckDB? SGBD analítico colunar in-process que opera com execução vetorizada em instruções SIMD da CPU, garantindo varredura ultrarrápida de grandes blocos de texto e vetores.</a:t>
            </a:r>
          </a:p>
          <a:p>
            <a:pPr>
              <a:spcBef>
                <a:spcPts val="700"/>
              </a:spcBef>
              <a:defRPr sz="1100">
                <a:solidFill>
                  <a:srgbClr val="1E293B"/>
                </a:solidFill>
                <a:latin typeface="Calibri"/>
              </a:defRPr>
            </a:pPr>
            <a:r>
              <a:t>• Comunicação de Cópia Zero: Interoperabilidade nativa em memória RAM com DataFrames do Pandas e Apache Arrow, eliminando o custo de serialização via socket de rede.</a:t>
            </a:r>
          </a:p>
          <a:p>
            <a:pPr>
              <a:spcBef>
                <a:spcPts val="700"/>
              </a:spcBef>
              <a:defRPr sz="1100">
                <a:solidFill>
                  <a:srgbClr val="1E293B"/>
                </a:solidFill>
                <a:latin typeface="Calibri"/>
              </a:defRPr>
            </a:pPr>
            <a:r>
              <a:t>• Suporte a Vetores Nativos: Permite colunas tipadas estáticas como FLOAT[1536], FLOAT[1024] e FLOAT[768], armazenando os embeddings diretamente ao lado do texto e dos metadados.</a:t>
            </a:r>
          </a:p>
          <a:p>
            <a:pPr>
              <a:spcBef>
                <a:spcPts val="700"/>
              </a:spcBef>
              <a:defRPr sz="1100">
                <a:solidFill>
                  <a:srgbClr val="1E293B"/>
                </a:solidFill>
                <a:latin typeface="Calibri"/>
              </a:defRPr>
            </a:pPr>
            <a:r>
              <a:t>• Eliminação de Bancos Externos Complexos: Dispensou a necessidade de subir e gerenciar servidores pesados de bancos vetoriais (como Milvus ou Pinecone), simplificando a infraestrutura.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3.1 PROCESSAMENTO TEXTUAL (O QUE FOI FEITO)</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Extração Híbrida de Texto (PyMuPDF + OCR), Higienização e Chunking</a:t>
            </a:r>
          </a:p>
        </p:txBody>
      </p:sp>
      <p:sp>
        <p:nvSpPr>
          <p:cNvPr id="5" name="Rounded Rectangle 4"/>
          <p:cNvSpPr/>
          <p:nvPr/>
        </p:nvSpPr>
        <p:spPr>
          <a:xfrm>
            <a:off x="731520" y="1600200"/>
            <a:ext cx="3328416"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2962656" cy="4434840"/>
          </a:xfrm>
          <a:prstGeom prst="rect">
            <a:avLst/>
          </a:prstGeom>
          <a:noFill/>
        </p:spPr>
        <p:txBody>
          <a:bodyPr wrap="square">
            <a:spAutoFit/>
          </a:bodyPr>
          <a:lstStyle/>
          <a:p>
            <a:pPr>
              <a:defRPr sz="1500" b="1">
                <a:solidFill>
                  <a:srgbClr val="0F172A"/>
                </a:solidFill>
                <a:latin typeface="Calibri"/>
              </a:defRPr>
            </a:pPr>
            <a:r>
              <a:t>Nível 1: Extração Direta</a:t>
            </a:r>
          </a:p>
          <a:p>
            <a:pPr>
              <a:spcBef>
                <a:spcPts val="700"/>
              </a:spcBef>
              <a:defRPr sz="1050">
                <a:solidFill>
                  <a:srgbClr val="1E293B"/>
                </a:solidFill>
                <a:latin typeface="Calibri"/>
              </a:defRPr>
            </a:pPr>
            <a:r>
              <a:t>• Biblioteca: PyMuPDF (fitz) para inspeção da árvore de objetos do PDF e decodificação de texto nativo.</a:t>
            </a:r>
          </a:p>
          <a:p>
            <a:pPr>
              <a:spcBef>
                <a:spcPts val="700"/>
              </a:spcBef>
              <a:defRPr sz="1050">
                <a:solidFill>
                  <a:srgbClr val="1E293B"/>
                </a:solidFill>
                <a:latin typeface="Calibri"/>
              </a:defRPr>
            </a:pPr>
            <a:r>
              <a:t>• Critério de Decisão: Limiar mínimo de densidade estipulado em 50 caracteres decodificados por documento.</a:t>
            </a:r>
          </a:p>
          <a:p>
            <a:pPr>
              <a:spcBef>
                <a:spcPts val="700"/>
              </a:spcBef>
              <a:defRPr sz="1050">
                <a:solidFill>
                  <a:srgbClr val="1E293B"/>
                </a:solidFill>
                <a:latin typeface="Calibri"/>
              </a:defRPr>
            </a:pPr>
            <a:r>
              <a:t>• Desempenho: Processamento quase instantâneo para arquivos que nasceram digitais e possuem camada pesquisável íntegra.</a:t>
            </a:r>
          </a:p>
          <a:p>
            <a:pPr>
              <a:spcBef>
                <a:spcPts val="700"/>
              </a:spcBef>
              <a:defRPr sz="1050">
                <a:solidFill>
                  <a:srgbClr val="1E293B"/>
                </a:solidFill>
                <a:latin typeface="Calibri"/>
              </a:defRPr>
            </a:pPr>
            <a:r>
              <a:t>• Rotulagem: Documentos aprovados recebem a etiqueta SUCESSO_DIRETO no DuckDB.</a:t>
            </a:r>
          </a:p>
        </p:txBody>
      </p:sp>
      <p:sp>
        <p:nvSpPr>
          <p:cNvPr id="7" name="Rounded Rectangle 6"/>
          <p:cNvSpPr/>
          <p:nvPr/>
        </p:nvSpPr>
        <p:spPr>
          <a:xfrm>
            <a:off x="4425696" y="1600200"/>
            <a:ext cx="3328416"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737360"/>
            <a:ext cx="2962656" cy="4434840"/>
          </a:xfrm>
          <a:prstGeom prst="rect">
            <a:avLst/>
          </a:prstGeom>
          <a:noFill/>
        </p:spPr>
        <p:txBody>
          <a:bodyPr wrap="square">
            <a:spAutoFit/>
          </a:bodyPr>
          <a:lstStyle/>
          <a:p>
            <a:pPr>
              <a:defRPr sz="1500" b="1">
                <a:solidFill>
                  <a:srgbClr val="D97706"/>
                </a:solidFill>
                <a:latin typeface="Calibri"/>
              </a:defRPr>
            </a:pPr>
            <a:r>
              <a:t>Nível 2: Fallback OCR</a:t>
            </a:r>
          </a:p>
          <a:p>
            <a:pPr>
              <a:spcBef>
                <a:spcPts val="700"/>
              </a:spcBef>
              <a:defRPr sz="1050">
                <a:solidFill>
                  <a:srgbClr val="1E293B"/>
                </a:solidFill>
                <a:latin typeface="Calibri"/>
              </a:defRPr>
            </a:pPr>
            <a:r>
              <a:t>• Mecanismo de Contingência: Acionado compulsoriamente se o documento fica abaixo do limiar de 50 caracteres (típico de PDFs escaneados).</a:t>
            </a:r>
          </a:p>
          <a:p>
            <a:pPr>
              <a:spcBef>
                <a:spcPts val="700"/>
              </a:spcBef>
              <a:defRPr sz="1050">
                <a:solidFill>
                  <a:srgbClr val="1E293B"/>
                </a:solidFill>
                <a:latin typeface="Calibri"/>
              </a:defRPr>
            </a:pPr>
            <a:r>
              <a:t>• Amostragem em Alta Resolução: Renderização das páginas do PDF em imagens rasterizadas a 300 DPI.</a:t>
            </a:r>
          </a:p>
          <a:p>
            <a:pPr>
              <a:spcBef>
                <a:spcPts val="700"/>
              </a:spcBef>
              <a:defRPr sz="1050">
                <a:solidFill>
                  <a:srgbClr val="1E293B"/>
                </a:solidFill>
                <a:latin typeface="Calibri"/>
              </a:defRPr>
            </a:pPr>
            <a:r>
              <a:t>• Motor Neural: Tesseract OCR operando com redes neurais recorrentes (LSTM) configuradas para o idioma português.</a:t>
            </a:r>
          </a:p>
          <a:p>
            <a:pPr>
              <a:spcBef>
                <a:spcPts val="700"/>
              </a:spcBef>
              <a:defRPr sz="1050">
                <a:solidFill>
                  <a:srgbClr val="1E293B"/>
                </a:solidFill>
                <a:latin typeface="Calibri"/>
              </a:defRPr>
            </a:pPr>
            <a:r>
              <a:t>• Rotulagem: Documentos resgatados pelo fluxo óptico são marcados como SUCESSO_OCR.</a:t>
            </a:r>
          </a:p>
        </p:txBody>
      </p:sp>
      <p:sp>
        <p:nvSpPr>
          <p:cNvPr id="9" name="Rounded Rectangle 8"/>
          <p:cNvSpPr/>
          <p:nvPr/>
        </p:nvSpPr>
        <p:spPr>
          <a:xfrm>
            <a:off x="8119872" y="1600200"/>
            <a:ext cx="3328416"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737360"/>
            <a:ext cx="2962656" cy="4434840"/>
          </a:xfrm>
          <a:prstGeom prst="rect">
            <a:avLst/>
          </a:prstGeom>
          <a:noFill/>
        </p:spPr>
        <p:txBody>
          <a:bodyPr wrap="square">
            <a:spAutoFit/>
          </a:bodyPr>
          <a:lstStyle/>
          <a:p>
            <a:pPr>
              <a:defRPr sz="1500" b="1">
                <a:solidFill>
                  <a:srgbClr val="2563EB"/>
                </a:solidFill>
                <a:latin typeface="Calibri"/>
              </a:defRPr>
            </a:pPr>
            <a:r>
              <a:t>Higienização &amp; Chunking</a:t>
            </a:r>
          </a:p>
          <a:p>
            <a:pPr>
              <a:spcBef>
                <a:spcPts val="700"/>
              </a:spcBef>
              <a:defRPr sz="1050">
                <a:solidFill>
                  <a:srgbClr val="1E293B"/>
                </a:solidFill>
                <a:latin typeface="Calibri"/>
              </a:defRPr>
            </a:pPr>
            <a:r>
              <a:t>• Tratamento Textual Denso: Correção de codificação via biblioteca ftfy; remoção de cabeçalhos de paginação, carimbos temporais, CPFs e assinaturas repetitivas.</a:t>
            </a:r>
          </a:p>
          <a:p>
            <a:pPr>
              <a:spcBef>
                <a:spcPts val="700"/>
              </a:spcBef>
              <a:defRPr sz="1050">
                <a:solidFill>
                  <a:srgbClr val="1E293B"/>
                </a:solidFill>
                <a:latin typeface="Calibri"/>
              </a:defRPr>
            </a:pPr>
            <a:r>
              <a:t>• Preservação Sintática: Rejeitou-se lematização ou stemming na coluna densa para não desestruturar o mecanismo de atenção dos Transformers.</a:t>
            </a:r>
          </a:p>
          <a:p>
            <a:pPr>
              <a:spcBef>
                <a:spcPts val="700"/>
              </a:spcBef>
              <a:defRPr sz="1050">
                <a:solidFill>
                  <a:srgbClr val="1E293B"/>
                </a:solidFill>
                <a:latin typeface="Calibri"/>
              </a:defRPr>
            </a:pPr>
            <a:r>
              <a:t>• Segmentação em Tokens: Fatiamento em janelas deslizantes de 500 tokens (tiktoken cl100k_base) com sobreposição (overlap) de 60 tokens.</a:t>
            </a:r>
          </a:p>
          <a:p>
            <a:pPr>
              <a:spcBef>
                <a:spcPts val="700"/>
              </a:spcBef>
              <a:defRPr sz="1050">
                <a:solidFill>
                  <a:srgbClr val="1E293B"/>
                </a:solidFill>
                <a:latin typeface="Calibri"/>
              </a:defRPr>
            </a:pPr>
            <a:r>
              <a:t>• Calibração Jurídica: Granularidade ajustada para conter cláusulas e termos aditivos completos sem corte abrupto de sentido.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3.2 MODELOS VETORIAIS</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Quadro Comparativo das 4 Arquiteturas de Embeddings Selecionadas</a:t>
            </a:r>
          </a:p>
        </p:txBody>
      </p:sp>
      <p:sp>
        <p:nvSpPr>
          <p:cNvPr id="5" name="Rounded Rectangle 4"/>
          <p:cNvSpPr/>
          <p:nvPr/>
        </p:nvSpPr>
        <p:spPr>
          <a:xfrm>
            <a:off x="731520" y="1600200"/>
            <a:ext cx="2542032"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2267712" cy="4434840"/>
          </a:xfrm>
          <a:prstGeom prst="rect">
            <a:avLst/>
          </a:prstGeom>
          <a:noFill/>
        </p:spPr>
        <p:txBody>
          <a:bodyPr wrap="square">
            <a:spAutoFit/>
          </a:bodyPr>
          <a:lstStyle/>
          <a:p>
            <a:pPr>
              <a:defRPr sz="1250" b="1">
                <a:solidFill>
                  <a:srgbClr val="2563EB"/>
                </a:solidFill>
                <a:latin typeface="Calibri"/>
              </a:defRPr>
            </a:pPr>
            <a:r>
              <a:t>text-embedding-3-small</a:t>
            </a:r>
          </a:p>
          <a:p>
            <a:pPr>
              <a:spcBef>
                <a:spcPts val="200"/>
              </a:spcBef>
              <a:defRPr sz="950">
                <a:solidFill>
                  <a:srgbClr val="64748B"/>
                </a:solidFill>
                <a:latin typeface="Calibri"/>
              </a:defRPr>
            </a:pPr>
            <a:r>
              <a:t>Azure OpenAI Service</a:t>
            </a:r>
          </a:p>
          <a:p>
            <a:pPr>
              <a:spcBef>
                <a:spcPts val="600"/>
              </a:spcBef>
              <a:defRPr sz="1000" b="1">
                <a:solidFill>
                  <a:srgbClr val="0F172A"/>
                </a:solidFill>
                <a:latin typeface="Calibri"/>
              </a:defRPr>
            </a:pPr>
            <a:r>
              <a:t>Categoria: Proprietário em Nuvem</a:t>
            </a:r>
            <a:br/>
            <a:r>
              <a:t>Dimensão Vetorial: 1.536d</a:t>
            </a:r>
          </a:p>
          <a:p>
            <a:pPr>
              <a:spcBef>
                <a:spcPts val="600"/>
              </a:spcBef>
              <a:defRPr sz="950">
                <a:solidFill>
                  <a:srgbClr val="1E293B"/>
                </a:solidFill>
                <a:latin typeface="Calibri"/>
              </a:defRPr>
            </a:pPr>
            <a:r>
              <a:t>• Baseline comercial proprietário de referência da OpenAI hospedado na nuvem Azure.</a:t>
            </a:r>
          </a:p>
          <a:p>
            <a:pPr>
              <a:spcBef>
                <a:spcPts val="600"/>
              </a:spcBef>
              <a:defRPr sz="950">
                <a:solidFill>
                  <a:srgbClr val="1E293B"/>
                </a:solidFill>
                <a:latin typeface="Calibri"/>
              </a:defRPr>
            </a:pPr>
            <a:r>
              <a:t>• Dimensionalidade fixa: 1.536 dimensões densas.</a:t>
            </a:r>
          </a:p>
          <a:p>
            <a:pPr>
              <a:spcBef>
                <a:spcPts val="600"/>
              </a:spcBef>
              <a:defRPr sz="950">
                <a:solidFill>
                  <a:srgbClr val="1E293B"/>
                </a:solidFill>
                <a:latin typeface="Calibri"/>
              </a:defRPr>
            </a:pPr>
            <a:r>
              <a:t>• Padrão amplamente adotado pelo mercado corporativo em sistemas RAG.</a:t>
            </a:r>
          </a:p>
          <a:p>
            <a:pPr>
              <a:spcBef>
                <a:spcPts val="600"/>
              </a:spcBef>
              <a:defRPr sz="950">
                <a:solidFill>
                  <a:srgbClr val="1E293B"/>
                </a:solidFill>
                <a:latin typeface="Calibri"/>
              </a:defRPr>
            </a:pPr>
            <a:r>
              <a:t>• Requisições gerenciadas com rotinas defensivas de retry com recuo exponencial.</a:t>
            </a:r>
          </a:p>
        </p:txBody>
      </p:sp>
      <p:sp>
        <p:nvSpPr>
          <p:cNvPr id="7" name="Rounded Rectangle 6"/>
          <p:cNvSpPr/>
          <p:nvPr/>
        </p:nvSpPr>
        <p:spPr>
          <a:xfrm>
            <a:off x="3456432" y="1600200"/>
            <a:ext cx="2542032"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737360"/>
            <a:ext cx="2267712" cy="4434840"/>
          </a:xfrm>
          <a:prstGeom prst="rect">
            <a:avLst/>
          </a:prstGeom>
          <a:noFill/>
        </p:spPr>
        <p:txBody>
          <a:bodyPr wrap="square">
            <a:spAutoFit/>
          </a:bodyPr>
          <a:lstStyle/>
          <a:p>
            <a:pPr>
              <a:defRPr sz="1250" b="1">
                <a:solidFill>
                  <a:srgbClr val="0D9488"/>
                </a:solidFill>
                <a:latin typeface="Calibri"/>
              </a:defRPr>
            </a:pPr>
            <a:r>
              <a:t>multilingual-e5-base</a:t>
            </a:r>
          </a:p>
          <a:p>
            <a:pPr>
              <a:spcBef>
                <a:spcPts val="200"/>
              </a:spcBef>
              <a:defRPr sz="950">
                <a:solidFill>
                  <a:srgbClr val="64748B"/>
                </a:solidFill>
                <a:latin typeface="Calibri"/>
              </a:defRPr>
            </a:pPr>
            <a:r>
              <a:t>Microsoft Research</a:t>
            </a:r>
          </a:p>
          <a:p>
            <a:pPr>
              <a:spcBef>
                <a:spcPts val="600"/>
              </a:spcBef>
              <a:defRPr sz="1000" b="1">
                <a:solidFill>
                  <a:srgbClr val="0F172A"/>
                </a:solidFill>
                <a:latin typeface="Calibri"/>
              </a:defRPr>
            </a:pPr>
            <a:r>
              <a:t>Categoria: Aberto Multilíngue</a:t>
            </a:r>
            <a:br/>
            <a:r>
              <a:t>Dimensão Vetorial: 768d</a:t>
            </a:r>
          </a:p>
          <a:p>
            <a:pPr>
              <a:spcBef>
                <a:spcPts val="600"/>
              </a:spcBef>
              <a:defRPr sz="950">
                <a:solidFill>
                  <a:srgbClr val="1E293B"/>
                </a:solidFill>
                <a:latin typeface="Calibri"/>
              </a:defRPr>
            </a:pPr>
            <a:r>
              <a:t>• Arquitetura aberta consagrada na literatura de recuperação densa de texto.</a:t>
            </a:r>
          </a:p>
          <a:p>
            <a:pPr>
              <a:spcBef>
                <a:spcPts val="600"/>
              </a:spcBef>
              <a:defRPr sz="950">
                <a:solidFill>
                  <a:srgbClr val="1E293B"/>
                </a:solidFill>
                <a:latin typeface="Calibri"/>
              </a:defRPr>
            </a:pPr>
            <a:r>
              <a:t>• Dimensionalidade: 768 dimensões densas.</a:t>
            </a:r>
          </a:p>
          <a:p>
            <a:pPr>
              <a:spcBef>
                <a:spcPts val="600"/>
              </a:spcBef>
              <a:defRPr sz="950">
                <a:solidFill>
                  <a:srgbClr val="1E293B"/>
                </a:solidFill>
                <a:latin typeface="Calibri"/>
              </a:defRPr>
            </a:pPr>
            <a:r>
              <a:t>• Treinamento assimétrico: requer prefixos 'passage: ' nos documentos e 'query: ' nas consultas.</a:t>
            </a:r>
          </a:p>
          <a:p>
            <a:pPr>
              <a:spcBef>
                <a:spcPts val="600"/>
              </a:spcBef>
              <a:defRPr sz="950">
                <a:solidFill>
                  <a:srgbClr val="1E293B"/>
                </a:solidFill>
                <a:latin typeface="Calibri"/>
              </a:defRPr>
            </a:pPr>
            <a:r>
              <a:t>• Excelente equilíbrio entre baixo consumo de hardware e acurácia de busca.</a:t>
            </a:r>
          </a:p>
        </p:txBody>
      </p:sp>
      <p:sp>
        <p:nvSpPr>
          <p:cNvPr id="9" name="Rounded Rectangle 8"/>
          <p:cNvSpPr/>
          <p:nvPr/>
        </p:nvSpPr>
        <p:spPr>
          <a:xfrm>
            <a:off x="6181344" y="1600200"/>
            <a:ext cx="2542032"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737360"/>
            <a:ext cx="2267712" cy="4434840"/>
          </a:xfrm>
          <a:prstGeom prst="rect">
            <a:avLst/>
          </a:prstGeom>
          <a:noFill/>
        </p:spPr>
        <p:txBody>
          <a:bodyPr wrap="square">
            <a:spAutoFit/>
          </a:bodyPr>
          <a:lstStyle/>
          <a:p>
            <a:pPr>
              <a:defRPr sz="1250" b="1">
                <a:solidFill>
                  <a:srgbClr val="7C3AED"/>
                </a:solidFill>
                <a:latin typeface="Calibri"/>
              </a:defRPr>
            </a:pPr>
            <a:r>
              <a:t>BAAI/bge-m3</a:t>
            </a:r>
          </a:p>
          <a:p>
            <a:pPr>
              <a:spcBef>
                <a:spcPts val="200"/>
              </a:spcBef>
              <a:defRPr sz="950">
                <a:solidFill>
                  <a:srgbClr val="64748B"/>
                </a:solidFill>
                <a:latin typeface="Calibri"/>
              </a:defRPr>
            </a:pPr>
            <a:r>
              <a:t>Beijing Academy of AI</a:t>
            </a:r>
          </a:p>
          <a:p>
            <a:pPr>
              <a:spcBef>
                <a:spcPts val="600"/>
              </a:spcBef>
              <a:defRPr sz="1000" b="1">
                <a:solidFill>
                  <a:srgbClr val="0F172A"/>
                </a:solidFill>
                <a:latin typeface="Calibri"/>
              </a:defRPr>
            </a:pPr>
            <a:r>
              <a:t>Categoria: Aberto Multilíngue (SOTA)</a:t>
            </a:r>
            <a:br/>
            <a:r>
              <a:t>Dimensão Vetorial: 1.024d</a:t>
            </a:r>
          </a:p>
          <a:p>
            <a:pPr>
              <a:spcBef>
                <a:spcPts val="600"/>
              </a:spcBef>
              <a:defRPr sz="950">
                <a:solidFill>
                  <a:srgbClr val="1E293B"/>
                </a:solidFill>
                <a:latin typeface="Calibri"/>
              </a:defRPr>
            </a:pPr>
            <a:r>
              <a:t>• Modelo aberto de última geração voltado a recuperação de alta precisão.</a:t>
            </a:r>
          </a:p>
          <a:p>
            <a:pPr>
              <a:spcBef>
                <a:spcPts val="600"/>
              </a:spcBef>
              <a:defRPr sz="950">
                <a:solidFill>
                  <a:srgbClr val="1E293B"/>
                </a:solidFill>
                <a:latin typeface="Calibri"/>
              </a:defRPr>
            </a:pPr>
            <a:r>
              <a:t>• Dimensionalidade: 1.024 dimensões densas.</a:t>
            </a:r>
          </a:p>
          <a:p>
            <a:pPr>
              <a:spcBef>
                <a:spcPts val="600"/>
              </a:spcBef>
              <a:defRPr sz="950">
                <a:solidFill>
                  <a:srgbClr val="1E293B"/>
                </a:solidFill>
                <a:latin typeface="Calibri"/>
              </a:defRPr>
            </a:pPr>
            <a:r>
              <a:t>• Capacidade para lidar com contextos extensos (até 8.192 tokens) e alta granularidade.</a:t>
            </a:r>
          </a:p>
          <a:p>
            <a:pPr>
              <a:spcBef>
                <a:spcPts val="600"/>
              </a:spcBef>
              <a:defRPr sz="950">
                <a:solidFill>
                  <a:srgbClr val="1E293B"/>
                </a:solidFill>
                <a:latin typeface="Calibri"/>
              </a:defRPr>
            </a:pPr>
            <a:r>
              <a:t>• Líder em múltiplos benchmarks internacionais de busca da informação.</a:t>
            </a:r>
          </a:p>
        </p:txBody>
      </p:sp>
      <p:sp>
        <p:nvSpPr>
          <p:cNvPr id="11" name="Rounded Rectangle 10"/>
          <p:cNvSpPr/>
          <p:nvPr/>
        </p:nvSpPr>
        <p:spPr>
          <a:xfrm>
            <a:off x="8906256" y="1600200"/>
            <a:ext cx="2542032"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737360"/>
            <a:ext cx="2267712" cy="4434840"/>
          </a:xfrm>
          <a:prstGeom prst="rect">
            <a:avLst/>
          </a:prstGeom>
          <a:noFill/>
        </p:spPr>
        <p:txBody>
          <a:bodyPr wrap="square">
            <a:spAutoFit/>
          </a:bodyPr>
          <a:lstStyle/>
          <a:p>
            <a:pPr>
              <a:defRPr sz="1250" b="1">
                <a:solidFill>
                  <a:srgbClr val="D97706"/>
                </a:solidFill>
                <a:latin typeface="Calibri"/>
              </a:defRPr>
            </a:pPr>
            <a:r>
              <a:t>BERTimbau-base-sts</a:t>
            </a:r>
          </a:p>
          <a:p>
            <a:pPr>
              <a:spcBef>
                <a:spcPts val="200"/>
              </a:spcBef>
              <a:defRPr sz="950">
                <a:solidFill>
                  <a:srgbClr val="64748B"/>
                </a:solidFill>
                <a:latin typeface="Calibri"/>
              </a:defRPr>
            </a:pPr>
            <a:r>
              <a:t>NeuralMind / UFRGS</a:t>
            </a:r>
          </a:p>
          <a:p>
            <a:pPr>
              <a:spcBef>
                <a:spcPts val="600"/>
              </a:spcBef>
              <a:defRPr sz="1000" b="1">
                <a:solidFill>
                  <a:srgbClr val="0F172A"/>
                </a:solidFill>
                <a:latin typeface="Calibri"/>
              </a:defRPr>
            </a:pPr>
            <a:r>
              <a:t>Categoria: Aberto Monolíngue PT-BR</a:t>
            </a:r>
            <a:br/>
            <a:r>
              <a:t>Dimensão Vetorial: 768d</a:t>
            </a:r>
          </a:p>
          <a:p>
            <a:pPr>
              <a:spcBef>
                <a:spcPts val="600"/>
              </a:spcBef>
              <a:defRPr sz="950">
                <a:solidFill>
                  <a:srgbClr val="1E293B"/>
                </a:solidFill>
                <a:latin typeface="Calibri"/>
              </a:defRPr>
            </a:pPr>
            <a:r>
              <a:t>• Arquitetura BERT pré-treinada exclusivamente sobre corpora em português brasileiro.</a:t>
            </a:r>
          </a:p>
          <a:p>
            <a:pPr>
              <a:spcBef>
                <a:spcPts val="600"/>
              </a:spcBef>
              <a:defRPr sz="950">
                <a:solidFill>
                  <a:srgbClr val="1E293B"/>
                </a:solidFill>
                <a:latin typeface="Calibri"/>
              </a:defRPr>
            </a:pPr>
            <a:r>
              <a:t>• Dimensionalidade: 768 dimensões densas.</a:t>
            </a:r>
          </a:p>
          <a:p>
            <a:pPr>
              <a:spcBef>
                <a:spcPts val="600"/>
              </a:spcBef>
              <a:defRPr sz="950">
                <a:solidFill>
                  <a:srgbClr val="1E293B"/>
                </a:solidFill>
                <a:latin typeface="Calibri"/>
              </a:defRPr>
            </a:pPr>
            <a:r>
              <a:t>• Extração vetorial via Mean Pooling sobre as camadas ocultas do Transformer.</a:t>
            </a:r>
          </a:p>
          <a:p>
            <a:pPr>
              <a:spcBef>
                <a:spcPts val="600"/>
              </a:spcBef>
              <a:defRPr sz="950">
                <a:solidFill>
                  <a:srgbClr val="1E293B"/>
                </a:solidFill>
                <a:latin typeface="Calibri"/>
              </a:defRPr>
            </a:pPr>
            <a:r>
              <a:t>• Permite testar se a especialização na língua materna supera os modelos multilíngues no domínio jurídico.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RESULTADOS PARCIAIS (TCC 1)</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Infraestrutura Consolidada e Diagnóstico Empírico da Base de Dados</a:t>
            </a:r>
          </a:p>
        </p:txBody>
      </p:sp>
      <p:sp>
        <p:nvSpPr>
          <p:cNvPr id="5" name="Rounded Rectangle 4"/>
          <p:cNvSpPr/>
          <p:nvPr/>
        </p:nvSpPr>
        <p:spPr>
          <a:xfrm>
            <a:off x="731520" y="1600200"/>
            <a:ext cx="2542032"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91640"/>
            <a:ext cx="2267712" cy="1463040"/>
          </a:xfrm>
          <a:prstGeom prst="rect">
            <a:avLst/>
          </a:prstGeom>
          <a:noFill/>
        </p:spPr>
        <p:txBody>
          <a:bodyPr wrap="square">
            <a:spAutoFit/>
          </a:bodyPr>
          <a:lstStyle/>
          <a:p>
            <a:pPr>
              <a:defRPr sz="2600" b="1">
                <a:solidFill>
                  <a:srgbClr val="0F172A"/>
                </a:solidFill>
                <a:latin typeface="Calibri"/>
              </a:defRPr>
            </a:pPr>
            <a:r>
              <a:t>7.656</a:t>
            </a:r>
          </a:p>
          <a:p>
            <a:pPr>
              <a:spcBef>
                <a:spcPts val="200"/>
              </a:spcBef>
              <a:defRPr sz="1100" b="1">
                <a:solidFill>
                  <a:srgbClr val="0F172A"/>
                </a:solidFill>
                <a:latin typeface="Calibri"/>
              </a:defRPr>
            </a:pPr>
            <a:r>
              <a:t>Documentos Públicos</a:t>
            </a:r>
          </a:p>
          <a:p>
            <a:pPr>
              <a:spcBef>
                <a:spcPts val="200"/>
              </a:spcBef>
              <a:defRPr sz="900">
                <a:solidFill>
                  <a:srgbClr val="64748B"/>
                </a:solidFill>
                <a:latin typeface="Calibri"/>
              </a:defRPr>
            </a:pPr>
            <a:r>
              <a:t>Total de atos e contratos catalogados e extraídos do portal municipal.</a:t>
            </a:r>
          </a:p>
        </p:txBody>
      </p:sp>
      <p:sp>
        <p:nvSpPr>
          <p:cNvPr id="7" name="Rounded Rectangle 6"/>
          <p:cNvSpPr/>
          <p:nvPr/>
        </p:nvSpPr>
        <p:spPr>
          <a:xfrm>
            <a:off x="3456432" y="1600200"/>
            <a:ext cx="2542032"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691640"/>
            <a:ext cx="2267712" cy="1463040"/>
          </a:xfrm>
          <a:prstGeom prst="rect">
            <a:avLst/>
          </a:prstGeom>
          <a:noFill/>
        </p:spPr>
        <p:txBody>
          <a:bodyPr wrap="square">
            <a:spAutoFit/>
          </a:bodyPr>
          <a:lstStyle/>
          <a:p>
            <a:pPr>
              <a:defRPr sz="2600" b="1">
                <a:solidFill>
                  <a:srgbClr val="D97706"/>
                </a:solidFill>
                <a:latin typeface="Calibri"/>
              </a:defRPr>
            </a:pPr>
            <a:r>
              <a:t>58,25%</a:t>
            </a:r>
          </a:p>
          <a:p>
            <a:pPr>
              <a:spcBef>
                <a:spcPts val="200"/>
              </a:spcBef>
              <a:defRPr sz="1100" b="1">
                <a:solidFill>
                  <a:srgbClr val="0F172A"/>
                </a:solidFill>
                <a:latin typeface="Calibri"/>
              </a:defRPr>
            </a:pPr>
            <a:r>
              <a:t>Resgatados via OCR</a:t>
            </a:r>
          </a:p>
          <a:p>
            <a:pPr>
              <a:spcBef>
                <a:spcPts val="200"/>
              </a:spcBef>
              <a:defRPr sz="900">
                <a:solidFill>
                  <a:srgbClr val="64748B"/>
                </a:solidFill>
                <a:latin typeface="Calibri"/>
              </a:defRPr>
            </a:pPr>
            <a:r>
              <a:t>4.460 arquivos digitalizados que seriam perdidos sem o OCR Tesseract.</a:t>
            </a:r>
          </a:p>
        </p:txBody>
      </p:sp>
      <p:sp>
        <p:nvSpPr>
          <p:cNvPr id="9" name="Rounded Rectangle 8"/>
          <p:cNvSpPr/>
          <p:nvPr/>
        </p:nvSpPr>
        <p:spPr>
          <a:xfrm>
            <a:off x="6181344" y="1600200"/>
            <a:ext cx="2542032"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691640"/>
            <a:ext cx="2267712" cy="1463040"/>
          </a:xfrm>
          <a:prstGeom prst="rect">
            <a:avLst/>
          </a:prstGeom>
          <a:noFill/>
        </p:spPr>
        <p:txBody>
          <a:bodyPr wrap="square">
            <a:spAutoFit/>
          </a:bodyPr>
          <a:lstStyle/>
          <a:p>
            <a:pPr>
              <a:defRPr sz="2600" b="1">
                <a:solidFill>
                  <a:srgbClr val="0D9488"/>
                </a:solidFill>
                <a:latin typeface="Calibri"/>
              </a:defRPr>
            </a:pPr>
            <a:r>
              <a:t>139.032</a:t>
            </a:r>
          </a:p>
          <a:p>
            <a:pPr>
              <a:spcBef>
                <a:spcPts val="200"/>
              </a:spcBef>
              <a:defRPr sz="1100" b="1">
                <a:solidFill>
                  <a:srgbClr val="0F172A"/>
                </a:solidFill>
                <a:latin typeface="Calibri"/>
              </a:defRPr>
            </a:pPr>
            <a:r>
              <a:t>Chunks Estruturados</a:t>
            </a:r>
          </a:p>
          <a:p>
            <a:pPr>
              <a:spcBef>
                <a:spcPts val="200"/>
              </a:spcBef>
              <a:defRPr sz="900">
                <a:solidFill>
                  <a:srgbClr val="64748B"/>
                </a:solidFill>
                <a:latin typeface="Calibri"/>
              </a:defRPr>
            </a:pPr>
            <a:r>
              <a:t>Fragmentos de 500 tokens gravados e indexados no DuckDB analítico.</a:t>
            </a:r>
          </a:p>
        </p:txBody>
      </p:sp>
      <p:sp>
        <p:nvSpPr>
          <p:cNvPr id="11" name="Rounded Rectangle 10"/>
          <p:cNvSpPr/>
          <p:nvPr/>
        </p:nvSpPr>
        <p:spPr>
          <a:xfrm>
            <a:off x="8906256" y="1600200"/>
            <a:ext cx="2542032"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691640"/>
            <a:ext cx="2267712" cy="1463040"/>
          </a:xfrm>
          <a:prstGeom prst="rect">
            <a:avLst/>
          </a:prstGeom>
          <a:noFill/>
        </p:spPr>
        <p:txBody>
          <a:bodyPr wrap="square">
            <a:spAutoFit/>
          </a:bodyPr>
          <a:lstStyle/>
          <a:p>
            <a:pPr>
              <a:defRPr sz="2600" b="1">
                <a:solidFill>
                  <a:srgbClr val="2563EB"/>
                </a:solidFill>
                <a:latin typeface="Calibri"/>
              </a:defRPr>
            </a:pPr>
            <a:r>
              <a:t>139.032</a:t>
            </a:r>
          </a:p>
          <a:p>
            <a:pPr>
              <a:spcBef>
                <a:spcPts val="200"/>
              </a:spcBef>
              <a:defRPr sz="1100" b="1">
                <a:solidFill>
                  <a:srgbClr val="0F172A"/>
                </a:solidFill>
                <a:latin typeface="Calibri"/>
              </a:defRPr>
            </a:pPr>
            <a:r>
              <a:t>Embeddings Gerados</a:t>
            </a:r>
          </a:p>
          <a:p>
            <a:pPr>
              <a:spcBef>
                <a:spcPts val="200"/>
              </a:spcBef>
              <a:defRPr sz="900">
                <a:solidFill>
                  <a:srgbClr val="64748B"/>
                </a:solidFill>
                <a:latin typeface="Calibri"/>
              </a:defRPr>
            </a:pPr>
            <a:r>
              <a:t>100% dos vetores do baseline Azure OpenAI já calculados e persistidos.</a:t>
            </a:r>
          </a:p>
        </p:txBody>
      </p:sp>
      <p:sp>
        <p:nvSpPr>
          <p:cNvPr id="13" name="Rounded Rectangle 12"/>
          <p:cNvSpPr/>
          <p:nvPr/>
        </p:nvSpPr>
        <p:spPr>
          <a:xfrm>
            <a:off x="731520" y="3383280"/>
            <a:ext cx="5175504"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520440"/>
            <a:ext cx="4626864" cy="2651760"/>
          </a:xfrm>
          <a:prstGeom prst="rect">
            <a:avLst/>
          </a:prstGeom>
          <a:noFill/>
        </p:spPr>
        <p:txBody>
          <a:bodyPr wrap="square">
            <a:spAutoFit/>
          </a:bodyPr>
          <a:lstStyle/>
          <a:p>
            <a:pPr>
              <a:defRPr sz="1400" b="1">
                <a:solidFill>
                  <a:srgbClr val="2563EB"/>
                </a:solidFill>
                <a:latin typeface="Calibri"/>
              </a:defRPr>
            </a:pPr>
            <a:r>
              <a:t>1. Pipeline de Engenharia de Dados 100% Operacional</a:t>
            </a:r>
          </a:p>
          <a:p>
            <a:pPr>
              <a:spcBef>
                <a:spcPts val="600"/>
              </a:spcBef>
              <a:defRPr sz="1050">
                <a:solidFill>
                  <a:srgbClr val="1E293B"/>
                </a:solidFill>
                <a:latin typeface="Calibri"/>
              </a:defRPr>
            </a:pPr>
            <a:r>
              <a:t>• Automação Web Completa: Robô de extração Selenium/BeautifulSoup operou com sucesso sobre a totalidade do acervo histórico municipal.</a:t>
            </a:r>
          </a:p>
          <a:p>
            <a:pPr>
              <a:spcBef>
                <a:spcPts val="600"/>
              </a:spcBef>
              <a:defRPr sz="1050">
                <a:solidFill>
                  <a:srgbClr val="1E293B"/>
                </a:solidFill>
                <a:latin typeface="Calibri"/>
              </a:defRPr>
            </a:pPr>
            <a:r>
              <a:t>• Comprovação Empírica do OCR: Mais de 58% dos documentos eram escaneados e não tinham camada de texto nativa (4.460 arquivos). Nosso pipeline de contingência salvou quase dois terços do acervo público!</a:t>
            </a:r>
          </a:p>
          <a:p>
            <a:pPr>
              <a:spcBef>
                <a:spcPts val="600"/>
              </a:spcBef>
              <a:defRPr sz="1050">
                <a:solidFill>
                  <a:srgbClr val="1E293B"/>
                </a:solidFill>
                <a:latin typeface="Calibri"/>
              </a:defRPr>
            </a:pPr>
            <a:r>
              <a:t>• Base Analítica DuckDB Estruturada: Banco TCCa.duckdb totalmente populado contendo as tabelas contratos_token e chunks_contratos com integridade referencial.</a:t>
            </a:r>
          </a:p>
        </p:txBody>
      </p:sp>
      <p:sp>
        <p:nvSpPr>
          <p:cNvPr id="15" name="Rounded Rectangle 14"/>
          <p:cNvSpPr/>
          <p:nvPr/>
        </p:nvSpPr>
        <p:spPr>
          <a:xfrm>
            <a:off x="6272784" y="3383280"/>
            <a:ext cx="5175504"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7104" y="3520440"/>
            <a:ext cx="4626864" cy="2651760"/>
          </a:xfrm>
          <a:prstGeom prst="rect">
            <a:avLst/>
          </a:prstGeom>
          <a:noFill/>
        </p:spPr>
        <p:txBody>
          <a:bodyPr wrap="square">
            <a:spAutoFit/>
          </a:bodyPr>
          <a:lstStyle/>
          <a:p>
            <a:pPr>
              <a:defRPr sz="1400" b="1">
                <a:solidFill>
                  <a:srgbClr val="0D9488"/>
                </a:solidFill>
                <a:latin typeface="Calibri"/>
              </a:defRPr>
            </a:pPr>
            <a:r>
              <a:t>2. Baseline Concluído &amp; Schema Pronto no DuckDB</a:t>
            </a:r>
          </a:p>
          <a:p>
            <a:pPr>
              <a:spcBef>
                <a:spcPts val="600"/>
              </a:spcBef>
              <a:defRPr sz="1050">
                <a:solidFill>
                  <a:srgbClr val="1E293B"/>
                </a:solidFill>
                <a:latin typeface="Calibri"/>
              </a:defRPr>
            </a:pPr>
            <a:r>
              <a:t>• Vetorização Total do Baseline: Todos os 139.032 chunks já foram processados via API da Azure OpenAI (text-embedding-3-small) e salvos na coluna vetor_embedding FLOAT[1536].</a:t>
            </a:r>
          </a:p>
          <a:p>
            <a:pPr>
              <a:spcBef>
                <a:spcPts val="600"/>
              </a:spcBef>
              <a:defRPr sz="1050">
                <a:solidFill>
                  <a:srgbClr val="1E293B"/>
                </a:solidFill>
                <a:latin typeface="Calibri"/>
              </a:defRPr>
            </a:pPr>
            <a:r>
              <a:t>• Schema Preparado para Modelos Abertos: Colunas tipadas como vetor_embedding_bertimbau (FLOAT[768]) e scripts dedicados para BGE-M3 e E5 desenvolvidos e testados.</a:t>
            </a:r>
          </a:p>
          <a:p>
            <a:pPr>
              <a:spcBef>
                <a:spcPts val="600"/>
              </a:spcBef>
              <a:defRPr sz="1050">
                <a:solidFill>
                  <a:srgbClr val="1E293B"/>
                </a:solidFill>
                <a:latin typeface="Calibri"/>
              </a:defRPr>
            </a:pPr>
            <a:r>
              <a:t>• Segurança para o TCC 2: A parte mais arriscada e custosa de engenharia, extração e coleta já está concluída e auditada.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3.2 PLANEJAMENTO EXPERIMENTAL — TCC 2</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Golden Dataset, Similaridade Angular e Métricas Clássicas de Ranking</a:t>
            </a:r>
          </a:p>
        </p:txBody>
      </p:sp>
      <p:sp>
        <p:nvSpPr>
          <p:cNvPr id="5" name="Rounded Rectangle 4"/>
          <p:cNvSpPr/>
          <p:nvPr/>
        </p:nvSpPr>
        <p:spPr>
          <a:xfrm>
            <a:off x="731520" y="1600200"/>
            <a:ext cx="5175504"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626864" cy="4434840"/>
          </a:xfrm>
          <a:prstGeom prst="rect">
            <a:avLst/>
          </a:prstGeom>
          <a:noFill/>
        </p:spPr>
        <p:txBody>
          <a:bodyPr wrap="square">
            <a:spAutoFit/>
          </a:bodyPr>
          <a:lstStyle/>
          <a:p>
            <a:pPr>
              <a:defRPr sz="1500" b="1">
                <a:solidFill>
                  <a:srgbClr val="0F172A"/>
                </a:solidFill>
                <a:latin typeface="Calibri"/>
              </a:defRPr>
            </a:pPr>
            <a:r>
              <a:t>1. Construção do Golden Dataset</a:t>
            </a:r>
          </a:p>
          <a:p>
            <a:pPr>
              <a:spcBef>
                <a:spcPts val="400"/>
              </a:spcBef>
              <a:defRPr sz="1050">
                <a:solidFill>
                  <a:srgbClr val="1E293B"/>
                </a:solidFill>
                <a:latin typeface="Calibri"/>
              </a:defRPr>
            </a:pPr>
            <a:r>
              <a:t>• Amostra Anotada: Criação de 50 a 100 consultas formuladas em linguagem natural simulando demandas habituais de cidadãos e auditores.</a:t>
            </a:r>
          </a:p>
          <a:p>
            <a:pPr>
              <a:spcBef>
                <a:spcPts val="400"/>
              </a:spcBef>
              <a:defRPr sz="1050">
                <a:solidFill>
                  <a:srgbClr val="1E293B"/>
                </a:solidFill>
                <a:latin typeface="Calibri"/>
              </a:defRPr>
            </a:pPr>
            <a:r>
              <a:t>• Três Eixos Temáticos Balanceados:</a:t>
            </a:r>
          </a:p>
          <a:p>
            <a:pPr>
              <a:spcBef>
                <a:spcPts val="400"/>
              </a:spcBef>
              <a:defRPr sz="1050">
                <a:solidFill>
                  <a:srgbClr val="1E293B"/>
                </a:solidFill>
                <a:latin typeface="Calibri"/>
              </a:defRPr>
            </a:pPr>
            <a:r>
              <a:t>  • Eixo 1 (Fatuais Diretas): Valores contratuais exatos, datas de vigência, CNPJs e dotações orçamentárias;</a:t>
            </a:r>
          </a:p>
          <a:p>
            <a:pPr>
              <a:spcBef>
                <a:spcPts val="400"/>
              </a:spcBef>
              <a:defRPr sz="1050">
                <a:solidFill>
                  <a:srgbClr val="1E293B"/>
                </a:solidFill>
                <a:latin typeface="Calibri"/>
              </a:defRPr>
            </a:pPr>
            <a:r>
              <a:t>  • Eixo 2 (Temáticas/Objeto): Descrições de itens licitados, escopos de obras e detalhamentos de serviços;</a:t>
            </a:r>
          </a:p>
          <a:p>
            <a:pPr>
              <a:spcBef>
                <a:spcPts val="400"/>
              </a:spcBef>
              <a:defRPr sz="1050">
                <a:solidFill>
                  <a:srgbClr val="1E293B"/>
                </a:solidFill>
                <a:latin typeface="Calibri"/>
              </a:defRPr>
            </a:pPr>
            <a:r>
              <a:t>  • Eixo 3 (Disposições Contratuais): Cláusulas de repactuação, critérios de reajuste financeiro e multas por inadimplemento.</a:t>
            </a:r>
          </a:p>
          <a:p>
            <a:pPr>
              <a:spcBef>
                <a:spcPts val="400"/>
              </a:spcBef>
              <a:defRPr sz="1050">
                <a:solidFill>
                  <a:srgbClr val="1E293B"/>
                </a:solidFill>
                <a:latin typeface="Calibri"/>
              </a:defRPr>
            </a:pPr>
            <a:r>
              <a:t>• Matriz de Relevância Binária: Mapeamento manual do identificador unívoco do chunk que soluciona cada pergunta.</a:t>
            </a:r>
          </a:p>
          <a:p>
            <a:pPr>
              <a:spcBef>
                <a:spcPts val="400"/>
              </a:spcBef>
              <a:defRPr sz="1050">
                <a:solidFill>
                  <a:srgbClr val="1E293B"/>
                </a:solidFill>
                <a:latin typeface="Calibri"/>
              </a:defRPr>
            </a:pPr>
            <a:r>
              <a:t>• Busca Vetorial Angular: Cálculo da similaridade por cosseno:</a:t>
            </a:r>
          </a:p>
        </p:txBody>
      </p:sp>
      <p:sp>
        <p:nvSpPr>
          <p:cNvPr id="7" name="Rounded Rectangle 6"/>
          <p:cNvSpPr/>
          <p:nvPr/>
        </p:nvSpPr>
        <p:spPr>
          <a:xfrm>
            <a:off x="1280160" y="5394960"/>
            <a:ext cx="4114800" cy="731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5440680"/>
            <a:ext cx="3931920" cy="640080"/>
          </a:xfrm>
          <a:prstGeom prst="rect">
            <a:avLst/>
          </a:prstGeom>
          <a:noFill/>
        </p:spPr>
        <p:txBody>
          <a:bodyPr wrap="square">
            <a:spAutoFit/>
          </a:bodyPr>
          <a:lstStyle/>
          <a:p>
            <a:pPr algn="ctr">
              <a:defRPr sz="1200" b="1">
                <a:solidFill>
                  <a:srgbClr val="2563EB"/>
                </a:solidFill>
                <a:latin typeface="Calibri"/>
              </a:defRPr>
            </a:pPr>
            <a:r>
              <a:t>Similaridade(u, v) = (u · v) / (||u|| ||v||)</a:t>
            </a:r>
          </a:p>
        </p:txBody>
      </p:sp>
      <p:sp>
        <p:nvSpPr>
          <p:cNvPr id="9" name="Rounded Rectangle 8"/>
          <p:cNvSpPr/>
          <p:nvPr/>
        </p:nvSpPr>
        <p:spPr>
          <a:xfrm>
            <a:off x="6272784" y="1600200"/>
            <a:ext cx="5175504"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47104" y="1737360"/>
            <a:ext cx="4626864" cy="4434840"/>
          </a:xfrm>
          <a:prstGeom prst="rect">
            <a:avLst/>
          </a:prstGeom>
          <a:noFill/>
        </p:spPr>
        <p:txBody>
          <a:bodyPr wrap="square">
            <a:spAutoFit/>
          </a:bodyPr>
          <a:lstStyle/>
          <a:p>
            <a:pPr>
              <a:defRPr sz="1500" b="1">
                <a:solidFill>
                  <a:srgbClr val="0D9488"/>
                </a:solidFill>
                <a:latin typeface="Calibri"/>
              </a:defRPr>
            </a:pPr>
            <a:r>
              <a:t>2. Métricas de Recuperação da Informação</a:t>
            </a:r>
          </a:p>
          <a:p>
            <a:pPr>
              <a:spcBef>
                <a:spcPts val="600"/>
              </a:spcBef>
              <a:defRPr sz="1100" b="1">
                <a:solidFill>
                  <a:srgbClr val="0F172A"/>
                </a:solidFill>
                <a:latin typeface="Calibri"/>
              </a:defRPr>
            </a:pPr>
            <a:r>
              <a:t>Recall@K (K ∈ {1, 3, 5, 10}):</a:t>
            </a:r>
          </a:p>
          <a:p>
            <a:pPr>
              <a:spcBef>
                <a:spcPts val="200"/>
              </a:spcBef>
              <a:defRPr sz="1000">
                <a:solidFill>
                  <a:srgbClr val="1E293B"/>
                </a:solidFill>
                <a:latin typeface="Calibri"/>
              </a:defRPr>
            </a:pPr>
            <a:r>
              <a:t>Mede se o chunk verdadeiramente relevante está contido dentro do topo K da lista retornada pelo modelo.</a:t>
            </a:r>
          </a:p>
          <a:p>
            <a:pPr>
              <a:spcBef>
                <a:spcPts val="600"/>
              </a:spcBef>
              <a:defRPr sz="1100" b="1">
                <a:solidFill>
                  <a:srgbClr val="0F172A"/>
                </a:solidFill>
                <a:latin typeface="Calibri"/>
              </a:defRPr>
            </a:pPr>
            <a:r>
              <a:t>Precision@K (K ∈ {1, 3, 5, 10}):</a:t>
            </a:r>
          </a:p>
          <a:p>
            <a:pPr>
              <a:spcBef>
                <a:spcPts val="200"/>
              </a:spcBef>
              <a:defRPr sz="1000">
                <a:solidFill>
                  <a:srgbClr val="1E293B"/>
                </a:solidFill>
                <a:latin typeface="Calibri"/>
              </a:defRPr>
            </a:pPr>
            <a:r>
              <a:t>Mensura a densidade de conteúdo relevante retornado, indicando o grau de dispersão ou ruído encaminhado para o contexto do LLM.</a:t>
            </a:r>
          </a:p>
          <a:p>
            <a:pPr>
              <a:spcBef>
                <a:spcPts val="600"/>
              </a:spcBef>
              <a:defRPr sz="1100" b="1">
                <a:solidFill>
                  <a:srgbClr val="0F172A"/>
                </a:solidFill>
                <a:latin typeface="Calibri"/>
              </a:defRPr>
            </a:pPr>
            <a:r>
              <a:t>MRR (Mean Reciprocal Rank):</a:t>
            </a:r>
          </a:p>
          <a:p>
            <a:pPr>
              <a:spcBef>
                <a:spcPts val="200"/>
              </a:spcBef>
              <a:defRPr sz="1000">
                <a:solidFill>
                  <a:srgbClr val="1E293B"/>
                </a:solidFill>
                <a:latin typeface="Calibri"/>
              </a:defRPr>
            </a:pPr>
            <a:r>
              <a:t>Pontua a rapidez ordinal: atribui peso inversamente proporcional à posição em que o primeiro resultado válido aparece (1/rank).</a:t>
            </a:r>
          </a:p>
          <a:p>
            <a:pPr>
              <a:spcBef>
                <a:spcPts val="600"/>
              </a:spcBef>
              <a:defRPr sz="1100" b="1">
                <a:solidFill>
                  <a:srgbClr val="0F172A"/>
                </a:solidFill>
                <a:latin typeface="Calibri"/>
              </a:defRPr>
            </a:pPr>
            <a:r>
              <a:t>NDCG@K (Normalized Discounted Cumulative Gain):</a:t>
            </a:r>
          </a:p>
          <a:p>
            <a:pPr>
              <a:spcBef>
                <a:spcPts val="200"/>
              </a:spcBef>
              <a:defRPr sz="1000">
                <a:solidFill>
                  <a:srgbClr val="1E293B"/>
                </a:solidFill>
                <a:latin typeface="Calibri"/>
              </a:defRPr>
            </a:pPr>
            <a:r>
              <a:t>Métrica nobre de ranking: avalia o ordenamento global aplicando penalização logarítmica para respostas pertinentes posicionadas em degraus inferiores da lista.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3.2 INFERÊNCIA ESTATÍSTICA &amp; CUSTO — TCC 2</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Testes de Hipótese Confirmatórios e Avaliação de Eficiência Operacional</a:t>
            </a:r>
          </a:p>
        </p:txBody>
      </p:sp>
      <p:sp>
        <p:nvSpPr>
          <p:cNvPr id="5" name="Rounded Rectangle 4"/>
          <p:cNvSpPr/>
          <p:nvPr/>
        </p:nvSpPr>
        <p:spPr>
          <a:xfrm>
            <a:off x="731520" y="1600200"/>
            <a:ext cx="5175504"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626864" cy="4434840"/>
          </a:xfrm>
          <a:prstGeom prst="rect">
            <a:avLst/>
          </a:prstGeom>
          <a:noFill/>
        </p:spPr>
        <p:txBody>
          <a:bodyPr wrap="square">
            <a:spAutoFit/>
          </a:bodyPr>
          <a:lstStyle/>
          <a:p>
            <a:pPr>
              <a:defRPr sz="1500" b="1">
                <a:solidFill>
                  <a:srgbClr val="0F172A"/>
                </a:solidFill>
                <a:latin typeface="Calibri"/>
              </a:defRPr>
            </a:pPr>
            <a:r>
              <a:t>1. Rigor Estatístico: Teste de Wilcoxon</a:t>
            </a:r>
          </a:p>
          <a:p>
            <a:pPr>
              <a:spcBef>
                <a:spcPts val="700"/>
              </a:spcBef>
              <a:defRPr sz="1050">
                <a:solidFill>
                  <a:srgbClr val="1E293B"/>
                </a:solidFill>
                <a:latin typeface="Calibri"/>
              </a:defRPr>
            </a:pPr>
            <a:r>
              <a:t>• Hipótese a Testar: Verificar se as diferenças nas pontuações de ranking (NDCG@K e Recall@K) entre os modelos são estatisticamente significativas ou decorrem de casualidade amostral.</a:t>
            </a:r>
          </a:p>
          <a:p>
            <a:pPr>
              <a:spcBef>
                <a:spcPts val="700"/>
              </a:spcBef>
              <a:defRPr sz="1050">
                <a:solidFill>
                  <a:srgbClr val="1E293B"/>
                </a:solidFill>
                <a:latin typeface="Calibri"/>
              </a:defRPr>
            </a:pPr>
            <a:r>
              <a:t>• Por que o Teste de Postos Sinalizados de Wilcoxon? Métricas de recuperação da informação possuem comprovada distribuição assimétrica e não normal (dados limitados entre 0 e 1), violando as premissas do teste t de Student paramétrico.</a:t>
            </a:r>
          </a:p>
          <a:p>
            <a:pPr>
              <a:spcBef>
                <a:spcPts val="700"/>
              </a:spcBef>
              <a:defRPr sz="1050">
                <a:solidFill>
                  <a:srgbClr val="1E293B"/>
                </a:solidFill>
                <a:latin typeface="Calibri"/>
              </a:defRPr>
            </a:pPr>
            <a:r>
              <a:t>• Delineamento Pareado: Cada par de modelos será comparado exatamente sobre as mesmas consultas do Golden Dataset.</a:t>
            </a:r>
          </a:p>
          <a:p>
            <a:pPr>
              <a:spcBef>
                <a:spcPts val="700"/>
              </a:spcBef>
              <a:defRPr sz="1050">
                <a:solidFill>
                  <a:srgbClr val="1E293B"/>
                </a:solidFill>
                <a:latin typeface="Calibri"/>
              </a:defRPr>
            </a:pPr>
            <a:r>
              <a:t>• Nível de Significância: Adotado o limiar crítico padrão alfa = 0,05 (p-valor &lt; 0,05 para rejeição da hipótese de equivalência representacional).</a:t>
            </a:r>
          </a:p>
        </p:txBody>
      </p:sp>
      <p:sp>
        <p:nvSpPr>
          <p:cNvPr id="7" name="Rounded Rectangle 6"/>
          <p:cNvSpPr/>
          <p:nvPr/>
        </p:nvSpPr>
        <p:spPr>
          <a:xfrm>
            <a:off x="6272784" y="1600200"/>
            <a:ext cx="5175504"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47104" y="1737360"/>
            <a:ext cx="4626864" cy="4434840"/>
          </a:xfrm>
          <a:prstGeom prst="rect">
            <a:avLst/>
          </a:prstGeom>
          <a:noFill/>
        </p:spPr>
        <p:txBody>
          <a:bodyPr wrap="square">
            <a:spAutoFit/>
          </a:bodyPr>
          <a:lstStyle/>
          <a:p>
            <a:pPr>
              <a:defRPr sz="1500" b="1">
                <a:solidFill>
                  <a:srgbClr val="D97706"/>
                </a:solidFill>
                <a:latin typeface="Calibri"/>
              </a:defRPr>
            </a:pPr>
            <a:r>
              <a:t>2. Viabilidade e Custo Computacional</a:t>
            </a:r>
          </a:p>
          <a:p>
            <a:pPr>
              <a:spcBef>
                <a:spcPts val="700"/>
              </a:spcBef>
              <a:defRPr sz="1050">
                <a:solidFill>
                  <a:srgbClr val="1E293B"/>
                </a:solidFill>
                <a:latin typeface="Calibri"/>
              </a:defRPr>
            </a:pPr>
            <a:r>
              <a:t>• Latência Média por Consulta: Mensuração do tempo médio em milissegundos (ms) para inferência vetorial de cada consulta em linguagem natural.</a:t>
            </a:r>
          </a:p>
          <a:p>
            <a:pPr>
              <a:spcBef>
                <a:spcPts val="700"/>
              </a:spcBef>
              <a:defRPr sz="1050">
                <a:solidFill>
                  <a:srgbClr val="1E293B"/>
                </a:solidFill>
                <a:latin typeface="Calibri"/>
              </a:defRPr>
            </a:pPr>
            <a:r>
              <a:t>• Consumo de Hardware: Avaliação do consumo de memória RAM, VRAM de placas gráficas e escalabilidade em servidores locais de órgãos públicos.</a:t>
            </a:r>
          </a:p>
          <a:p>
            <a:pPr>
              <a:spcBef>
                <a:spcPts val="700"/>
              </a:spcBef>
              <a:defRPr sz="1050">
                <a:solidFill>
                  <a:srgbClr val="1E293B"/>
                </a:solidFill>
                <a:latin typeface="Calibri"/>
              </a:defRPr>
            </a:pPr>
            <a:r>
              <a:t>• Trade-off Custo vs. Soberania: Comparação entre a tarifação contínua por token em APIs comerciais em nuvem versus a gratuidade e soberania de dados de modelos abertos executados localmente.</a:t>
            </a:r>
          </a:p>
          <a:p>
            <a:pPr>
              <a:spcBef>
                <a:spcPts val="700"/>
              </a:spcBef>
              <a:defRPr sz="1050">
                <a:solidFill>
                  <a:srgbClr val="1E293B"/>
                </a:solidFill>
                <a:latin typeface="Calibri"/>
              </a:defRPr>
            </a:pPr>
            <a:r>
              <a:t>• Critério de Decisão para o JULIUS: O modelo eleito deve alcançar o melhor compromisso entre qualidade de recuperação (NDCG@K) e latência viável para interação em tempo real com cidadãos.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PLANEJAMENTO FUTURO — TCC 2</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Cronograma de Execução e Viabilidade das Etapas Finais</a:t>
            </a:r>
          </a:p>
        </p:txBody>
      </p:sp>
      <p:sp>
        <p:nvSpPr>
          <p:cNvPr id="5" name="Rounded Rectangle 4"/>
          <p:cNvSpPr/>
          <p:nvPr/>
        </p:nvSpPr>
        <p:spPr>
          <a:xfrm>
            <a:off x="731520" y="1645920"/>
            <a:ext cx="20116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83080"/>
            <a:ext cx="1828800" cy="1920240"/>
          </a:xfrm>
          <a:prstGeom prst="rect">
            <a:avLst/>
          </a:prstGeom>
          <a:noFill/>
        </p:spPr>
        <p:txBody>
          <a:bodyPr wrap="square">
            <a:spAutoFit/>
          </a:bodyPr>
          <a:lstStyle/>
          <a:p>
            <a:pPr>
              <a:defRPr sz="1200" b="1">
                <a:solidFill>
                  <a:srgbClr val="2563EB"/>
                </a:solidFill>
                <a:latin typeface="Calibri"/>
              </a:defRPr>
            </a:pPr>
            <a:r>
              <a:t>Mês 1</a:t>
            </a:r>
          </a:p>
          <a:p>
            <a:pPr>
              <a:spcBef>
                <a:spcPts val="200"/>
              </a:spcBef>
              <a:defRPr sz="1100" b="1">
                <a:solidFill>
                  <a:srgbClr val="0F172A"/>
                </a:solidFill>
                <a:latin typeface="Calibri"/>
              </a:defRPr>
            </a:pPr>
            <a:r>
              <a:t>Vetorização Aberta</a:t>
            </a:r>
          </a:p>
          <a:p>
            <a:pPr>
              <a:spcBef>
                <a:spcPts val="400"/>
              </a:spcBef>
              <a:defRPr sz="900">
                <a:solidFill>
                  <a:srgbClr val="1E293B"/>
                </a:solidFill>
                <a:latin typeface="Calibri"/>
              </a:defRPr>
            </a:pPr>
            <a:r>
              <a:t>Inferência e persistência dos vetores de E5, BGE-M3 e BERTimbau no DuckDB.</a:t>
            </a:r>
          </a:p>
        </p:txBody>
      </p:sp>
      <p:sp>
        <p:nvSpPr>
          <p:cNvPr id="7" name="Rounded Rectangle 6"/>
          <p:cNvSpPr/>
          <p:nvPr/>
        </p:nvSpPr>
        <p:spPr>
          <a:xfrm>
            <a:off x="2907792" y="1645920"/>
            <a:ext cx="20116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99232" y="1783080"/>
            <a:ext cx="1828800" cy="1920240"/>
          </a:xfrm>
          <a:prstGeom prst="rect">
            <a:avLst/>
          </a:prstGeom>
          <a:noFill/>
        </p:spPr>
        <p:txBody>
          <a:bodyPr wrap="square">
            <a:spAutoFit/>
          </a:bodyPr>
          <a:lstStyle/>
          <a:p>
            <a:pPr>
              <a:defRPr sz="1200" b="1">
                <a:solidFill>
                  <a:srgbClr val="7C3AED"/>
                </a:solidFill>
                <a:latin typeface="Calibri"/>
              </a:defRPr>
            </a:pPr>
            <a:r>
              <a:t>Mês 2</a:t>
            </a:r>
          </a:p>
          <a:p>
            <a:pPr>
              <a:spcBef>
                <a:spcPts val="200"/>
              </a:spcBef>
              <a:defRPr sz="1100" b="1">
                <a:solidFill>
                  <a:srgbClr val="0F172A"/>
                </a:solidFill>
                <a:latin typeface="Calibri"/>
              </a:defRPr>
            </a:pPr>
            <a:r>
              <a:t>Golden Dataset</a:t>
            </a:r>
          </a:p>
          <a:p>
            <a:pPr>
              <a:spcBef>
                <a:spcPts val="400"/>
              </a:spcBef>
              <a:defRPr sz="900">
                <a:solidFill>
                  <a:srgbClr val="1E293B"/>
                </a:solidFill>
                <a:latin typeface="Calibri"/>
              </a:defRPr>
            </a:pPr>
            <a:r>
              <a:t>Elaboração e rotulagem manual das 50 a 100 consultas do gabarito de relevância.</a:t>
            </a:r>
          </a:p>
        </p:txBody>
      </p:sp>
      <p:sp>
        <p:nvSpPr>
          <p:cNvPr id="9" name="Rounded Rectangle 8"/>
          <p:cNvSpPr/>
          <p:nvPr/>
        </p:nvSpPr>
        <p:spPr>
          <a:xfrm>
            <a:off x="5084064" y="1645920"/>
            <a:ext cx="20116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5504" y="1783080"/>
            <a:ext cx="1828800" cy="1920240"/>
          </a:xfrm>
          <a:prstGeom prst="rect">
            <a:avLst/>
          </a:prstGeom>
          <a:noFill/>
        </p:spPr>
        <p:txBody>
          <a:bodyPr wrap="square">
            <a:spAutoFit/>
          </a:bodyPr>
          <a:lstStyle/>
          <a:p>
            <a:pPr>
              <a:defRPr sz="1200" b="1">
                <a:solidFill>
                  <a:srgbClr val="0D9488"/>
                </a:solidFill>
                <a:latin typeface="Calibri"/>
              </a:defRPr>
            </a:pPr>
            <a:r>
              <a:t>Mês 3</a:t>
            </a:r>
          </a:p>
          <a:p>
            <a:pPr>
              <a:spcBef>
                <a:spcPts val="200"/>
              </a:spcBef>
              <a:defRPr sz="1100" b="1">
                <a:solidFill>
                  <a:srgbClr val="0F172A"/>
                </a:solidFill>
                <a:latin typeface="Calibri"/>
              </a:defRPr>
            </a:pPr>
            <a:r>
              <a:t>Bateria de Testes</a:t>
            </a:r>
          </a:p>
          <a:p>
            <a:pPr>
              <a:spcBef>
                <a:spcPts val="400"/>
              </a:spcBef>
              <a:defRPr sz="900">
                <a:solidFill>
                  <a:srgbClr val="1E293B"/>
                </a:solidFill>
                <a:latin typeface="Calibri"/>
              </a:defRPr>
            </a:pPr>
            <a:r>
              <a:t>Execução da busca por cosseno e cálculo automatizado das matrizes de métricas.</a:t>
            </a:r>
          </a:p>
        </p:txBody>
      </p:sp>
      <p:sp>
        <p:nvSpPr>
          <p:cNvPr id="11" name="Rounded Rectangle 10"/>
          <p:cNvSpPr/>
          <p:nvPr/>
        </p:nvSpPr>
        <p:spPr>
          <a:xfrm>
            <a:off x="7260336" y="1645920"/>
            <a:ext cx="20116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51776" y="1783080"/>
            <a:ext cx="1828800" cy="1920240"/>
          </a:xfrm>
          <a:prstGeom prst="rect">
            <a:avLst/>
          </a:prstGeom>
          <a:noFill/>
        </p:spPr>
        <p:txBody>
          <a:bodyPr wrap="square">
            <a:spAutoFit/>
          </a:bodyPr>
          <a:lstStyle/>
          <a:p>
            <a:pPr>
              <a:defRPr sz="1200" b="1">
                <a:solidFill>
                  <a:srgbClr val="D97706"/>
                </a:solidFill>
                <a:latin typeface="Calibri"/>
              </a:defRPr>
            </a:pPr>
            <a:r>
              <a:t>Mês 4</a:t>
            </a:r>
          </a:p>
          <a:p>
            <a:pPr>
              <a:spcBef>
                <a:spcPts val="200"/>
              </a:spcBef>
              <a:defRPr sz="1100" b="1">
                <a:solidFill>
                  <a:srgbClr val="0F172A"/>
                </a:solidFill>
                <a:latin typeface="Calibri"/>
              </a:defRPr>
            </a:pPr>
            <a:r>
              <a:t>Análise Estatística</a:t>
            </a:r>
          </a:p>
          <a:p>
            <a:pPr>
              <a:spcBef>
                <a:spcPts val="400"/>
              </a:spcBef>
              <a:defRPr sz="900">
                <a:solidFill>
                  <a:srgbClr val="1E293B"/>
                </a:solidFill>
                <a:latin typeface="Calibri"/>
              </a:defRPr>
            </a:pPr>
            <a:r>
              <a:t>Aplicação dos testes de Wilcoxon, análise de latência e viabilidade de hardware.</a:t>
            </a:r>
          </a:p>
        </p:txBody>
      </p:sp>
      <p:sp>
        <p:nvSpPr>
          <p:cNvPr id="13" name="Rounded Rectangle 12"/>
          <p:cNvSpPr/>
          <p:nvPr/>
        </p:nvSpPr>
        <p:spPr>
          <a:xfrm>
            <a:off x="9436608" y="1645920"/>
            <a:ext cx="20116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28048" y="1783080"/>
            <a:ext cx="1828800" cy="1920240"/>
          </a:xfrm>
          <a:prstGeom prst="rect">
            <a:avLst/>
          </a:prstGeom>
          <a:noFill/>
        </p:spPr>
        <p:txBody>
          <a:bodyPr wrap="square">
            <a:spAutoFit/>
          </a:bodyPr>
          <a:lstStyle/>
          <a:p>
            <a:pPr>
              <a:defRPr sz="1200" b="1">
                <a:solidFill>
                  <a:srgbClr val="0F172A"/>
                </a:solidFill>
                <a:latin typeface="Calibri"/>
              </a:defRPr>
            </a:pPr>
            <a:r>
              <a:t>Mês 5</a:t>
            </a:r>
          </a:p>
          <a:p>
            <a:pPr>
              <a:spcBef>
                <a:spcPts val="200"/>
              </a:spcBef>
              <a:defRPr sz="1100" b="1">
                <a:solidFill>
                  <a:srgbClr val="0F172A"/>
                </a:solidFill>
                <a:latin typeface="Calibri"/>
              </a:defRPr>
            </a:pPr>
            <a:r>
              <a:t>Defesa do TCC 2</a:t>
            </a:r>
          </a:p>
          <a:p>
            <a:pPr>
              <a:spcBef>
                <a:spcPts val="400"/>
              </a:spcBef>
              <a:defRPr sz="900">
                <a:solidFill>
                  <a:srgbClr val="1E293B"/>
                </a:solidFill>
                <a:latin typeface="Calibri"/>
              </a:defRPr>
            </a:pPr>
            <a:r>
              <a:t>Redação da monografia final, consolidação dos gráficos e apresentação da banca.</a:t>
            </a:r>
          </a:p>
        </p:txBody>
      </p:sp>
      <p:sp>
        <p:nvSpPr>
          <p:cNvPr id="15" name="Rounded Rectangle 14"/>
          <p:cNvSpPr/>
          <p:nvPr/>
        </p:nvSpPr>
        <p:spPr>
          <a:xfrm>
            <a:off x="731520" y="4023360"/>
            <a:ext cx="10716768"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10168128" cy="1920240"/>
          </a:xfrm>
          <a:prstGeom prst="rect">
            <a:avLst/>
          </a:prstGeom>
          <a:noFill/>
        </p:spPr>
        <p:txBody>
          <a:bodyPr wrap="square">
            <a:spAutoFit/>
          </a:bodyPr>
          <a:lstStyle/>
          <a:p>
            <a:pPr>
              <a:defRPr sz="1400" b="1">
                <a:solidFill>
                  <a:srgbClr val="2563EB"/>
                </a:solidFill>
                <a:latin typeface="Calibri"/>
              </a:defRPr>
            </a:pPr>
            <a:r>
              <a:t>Garantias de Viabilidade da Pesquisa</a:t>
            </a:r>
          </a:p>
          <a:p>
            <a:pPr>
              <a:spcBef>
                <a:spcPts val="400"/>
              </a:spcBef>
              <a:defRPr sz="1050">
                <a:solidFill>
                  <a:srgbClr val="1E293B"/>
                </a:solidFill>
                <a:latin typeface="Calibri"/>
              </a:defRPr>
            </a:pPr>
            <a:r>
              <a:t>• Insumos Totalmente Assegurados: O acervo documental bruto de São Gabriel da Palha já foi 100% raspado, extraído e higienizado no DuckDB.</a:t>
            </a:r>
          </a:p>
          <a:p>
            <a:pPr>
              <a:spcBef>
                <a:spcPts val="400"/>
              </a:spcBef>
              <a:defRPr sz="1050">
                <a:solidFill>
                  <a:srgbClr val="1E293B"/>
                </a:solidFill>
                <a:latin typeface="Calibri"/>
              </a:defRPr>
            </a:pPr>
            <a:r>
              <a:t>• Scripts de Inferência Desenvolvidos: Os scripts modulares em PyTorch e HuggingFace já estão escritos para o BERTimbau, E5 e BGE-M3.</a:t>
            </a:r>
          </a:p>
          <a:p>
            <a:pPr>
              <a:spcBef>
                <a:spcPts val="400"/>
              </a:spcBef>
              <a:defRPr sz="1050">
                <a:solidFill>
                  <a:srgbClr val="1E293B"/>
                </a:solidFill>
                <a:latin typeface="Calibri"/>
              </a:defRPr>
            </a:pPr>
            <a:r>
              <a:t>• Infraestrutura Computacional: As execuções locais serão conduzidas no ambiente do laboratório, viabilizando a vetorização em poucas horas de inferência em GPU.</a:t>
            </a:r>
          </a:p>
          <a:p>
            <a:pPr>
              <a:spcBef>
                <a:spcPts val="400"/>
              </a:spcBef>
              <a:defRPr sz="1050">
                <a:solidFill>
                  <a:srgbClr val="1E293B"/>
                </a:solidFill>
                <a:latin typeface="Calibri"/>
              </a:defRPr>
            </a:pPr>
            <a:r>
              <a:t>• Risco Mitigado: Como a etapa de engenharia e baseline já está pronta, o cronograma do TCC 2 é estritamente experimental e analítico, sem gargalos de coleta pendentes.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REFERÊNCIAS BIBLIOGRÁFICAS</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Principais Obras e Normas que Fundamentam a Pesquisa</a:t>
            </a:r>
          </a:p>
        </p:txBody>
      </p:sp>
      <p:sp>
        <p:nvSpPr>
          <p:cNvPr id="5" name="Rounded Rectangle 4"/>
          <p:cNvSpPr/>
          <p:nvPr/>
        </p:nvSpPr>
        <p:spPr>
          <a:xfrm>
            <a:off x="731520" y="1600200"/>
            <a:ext cx="10716768"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10168128" cy="4434840"/>
          </a:xfrm>
          <a:prstGeom prst="rect">
            <a:avLst/>
          </a:prstGeom>
          <a:noFill/>
        </p:spPr>
        <p:txBody>
          <a:bodyPr wrap="square">
            <a:spAutoFit/>
          </a:bodyPr>
          <a:lstStyle/>
          <a:p>
            <a:pPr>
              <a:defRPr sz="1200" b="1">
                <a:solidFill>
                  <a:srgbClr val="0F172A"/>
                </a:solidFill>
                <a:latin typeface="Calibri"/>
              </a:defRPr>
            </a:pPr>
            <a:r>
              <a:t>Principais Referências Normativas e Científicas (Normas ABNT):</a:t>
            </a:r>
          </a:p>
          <a:p>
            <a:pPr>
              <a:spcBef>
                <a:spcPts val="500"/>
              </a:spcBef>
              <a:defRPr sz="950">
                <a:solidFill>
                  <a:srgbClr val="1E293B"/>
                </a:solidFill>
                <a:latin typeface="Calibri"/>
              </a:defRPr>
            </a:pPr>
            <a:r>
              <a:t>• BRASIL. Lei nº 12.527, de 18 de novembro de 2011. Regula o acesso a informações previsto na Constituição Federal. Diário Oficial da União, Brasília, DF, 2011.</a:t>
            </a:r>
          </a:p>
          <a:p>
            <a:pPr>
              <a:spcBef>
                <a:spcPts val="500"/>
              </a:spcBef>
              <a:defRPr sz="950">
                <a:solidFill>
                  <a:srgbClr val="1E293B"/>
                </a:solidFill>
                <a:latin typeface="Calibri"/>
              </a:defRPr>
            </a:pPr>
            <a:r>
              <a:t>• CHEN, J. et al. BGE M3-Embedding: Multi-Lingual, Multi-Functionality, Multi-Granularity Text Embeddings Through Self-Knowledge Distillation. arXiv preprint arXiv:2402.03216, 2024.</a:t>
            </a:r>
          </a:p>
          <a:p>
            <a:pPr>
              <a:spcBef>
                <a:spcPts val="500"/>
              </a:spcBef>
              <a:defRPr sz="950">
                <a:solidFill>
                  <a:srgbClr val="1E293B"/>
                </a:solidFill>
                <a:latin typeface="Calibri"/>
              </a:defRPr>
            </a:pPr>
            <a:r>
              <a:t>• DEVLIN, J. et al. BERT: Pre-training of Deep Bidirectional Transformers for Language Understanding. In: Proceedings of NAACL-HLT, p. 4171-4186, 2019.</a:t>
            </a:r>
          </a:p>
          <a:p>
            <a:pPr>
              <a:spcBef>
                <a:spcPts val="500"/>
              </a:spcBef>
              <a:defRPr sz="950">
                <a:solidFill>
                  <a:srgbClr val="1E293B"/>
                </a:solidFill>
                <a:latin typeface="Calibri"/>
              </a:defRPr>
            </a:pPr>
            <a:r>
              <a:t>• LEWIS, P. et al. Retrieval-Augmented Generation for Knowledge-Intensive NLP Tasks. In: Advances in Neural Information Processing Systems (NeurIPS), v. 33, p. 9459-9474, 2020.</a:t>
            </a:r>
          </a:p>
          <a:p>
            <a:pPr>
              <a:spcBef>
                <a:spcPts val="500"/>
              </a:spcBef>
              <a:defRPr sz="950">
                <a:solidFill>
                  <a:srgbClr val="1E293B"/>
                </a:solidFill>
                <a:latin typeface="Calibri"/>
              </a:defRPr>
            </a:pPr>
            <a:r>
              <a:t>• MANNING, C. D.; RAGHAVAN, P.; SCHÜTZE, H. Introduction to Information Retrieval. Cambridge University Press, 2008.</a:t>
            </a:r>
          </a:p>
          <a:p>
            <a:pPr>
              <a:spcBef>
                <a:spcPts val="500"/>
              </a:spcBef>
              <a:defRPr sz="950">
                <a:solidFill>
                  <a:srgbClr val="1E293B"/>
                </a:solidFill>
                <a:latin typeface="Calibri"/>
              </a:defRPr>
            </a:pPr>
            <a:r>
              <a:t>• REIMERS, N.; GUREVYCH, I. Sentence-BERT: Sentence Embeddings using Siamese BERT-Networks. In: Proceedings of EMNLP-IJCNLP, p. 3982-3992, 2019.</a:t>
            </a:r>
          </a:p>
          <a:p>
            <a:pPr>
              <a:spcBef>
                <a:spcPts val="500"/>
              </a:spcBef>
              <a:defRPr sz="950">
                <a:solidFill>
                  <a:srgbClr val="1E293B"/>
                </a:solidFill>
                <a:latin typeface="Calibri"/>
              </a:defRPr>
            </a:pPr>
            <a:r>
              <a:t>• SOUZA, F.; NOGUEIRA, R.; LOTUFO, R. BERTimbau: Pretrained BERT Models for Brazilian Portuguese. In: Intelligent Systems (BRACIS), p. 403-417. Springer, 2020.</a:t>
            </a:r>
          </a:p>
          <a:p>
            <a:pPr>
              <a:spcBef>
                <a:spcPts val="500"/>
              </a:spcBef>
              <a:defRPr sz="950">
                <a:solidFill>
                  <a:srgbClr val="1E293B"/>
                </a:solidFill>
                <a:latin typeface="Calibri"/>
              </a:defRPr>
            </a:pPr>
            <a:r>
              <a:t>• WANG, L. et al. Text Embeddings by Weakly-Supervised Contrastive Pre-training. arXiv preprint arXiv:2212.03533, 2022.</a:t>
            </a:r>
          </a:p>
          <a:p>
            <a:pPr>
              <a:spcBef>
                <a:spcPts val="500"/>
              </a:spcBef>
              <a:defRPr sz="950">
                <a:solidFill>
                  <a:srgbClr val="1E293B"/>
                </a:solidFill>
                <a:latin typeface="Calibri"/>
              </a:defRPr>
            </a:pPr>
            <a:r>
              <a:t>• WILCOXON, F. Individual Comparisons by Ranking Methods. Biometrics Bulletin, v. 1, n. 6, p. 80-83, 1945.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4114800" cy="329184"/>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latin typeface="Calibri"/>
              </a:defRPr>
            </a:pPr>
            <a:r>
              <a:t>ENCERRAMENTO &amp; ARGUIÇÃO</a:t>
            </a:r>
          </a:p>
        </p:txBody>
      </p:sp>
      <p:sp>
        <p:nvSpPr>
          <p:cNvPr id="4" name="TextBox 3"/>
          <p:cNvSpPr txBox="1"/>
          <p:nvPr/>
        </p:nvSpPr>
        <p:spPr>
          <a:xfrm>
            <a:off x="731520" y="749808"/>
            <a:ext cx="10728655" cy="685800"/>
          </a:xfrm>
          <a:prstGeom prst="rect">
            <a:avLst/>
          </a:prstGeom>
          <a:noFill/>
        </p:spPr>
        <p:txBody>
          <a:bodyPr wrap="square" lIns="0" tIns="0">
            <a:spAutoFit/>
          </a:bodyPr>
          <a:lstStyle/>
          <a:p>
            <a:pPr>
              <a:defRPr sz="2100" b="1">
                <a:solidFill>
                  <a:srgbClr val="0F172A"/>
                </a:solidFill>
                <a:latin typeface="Calibri"/>
              </a:defRPr>
            </a:pPr>
            <a:r>
              <a:t>Considerações Finais, Agradecimentos e Espaço para Perguntas</a:t>
            </a:r>
          </a:p>
        </p:txBody>
      </p:sp>
      <p:sp>
        <p:nvSpPr>
          <p:cNvPr id="5" name="Rounded Rectangle 4"/>
          <p:cNvSpPr/>
          <p:nvPr/>
        </p:nvSpPr>
        <p:spPr>
          <a:xfrm>
            <a:off x="731520" y="1600200"/>
            <a:ext cx="5175504"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626864" cy="4434840"/>
          </a:xfrm>
          <a:prstGeom prst="rect">
            <a:avLst/>
          </a:prstGeom>
          <a:noFill/>
        </p:spPr>
        <p:txBody>
          <a:bodyPr wrap="square">
            <a:spAutoFit/>
          </a:bodyPr>
          <a:lstStyle/>
          <a:p>
            <a:pPr>
              <a:defRPr sz="1500" b="1">
                <a:solidFill>
                  <a:srgbClr val="2563EB"/>
                </a:solidFill>
                <a:latin typeface="Calibri"/>
              </a:defRPr>
            </a:pPr>
            <a:r>
              <a:t>Síntese das Contribuições do Estudo</a:t>
            </a:r>
          </a:p>
          <a:p>
            <a:pPr>
              <a:spcBef>
                <a:spcPts val="800"/>
              </a:spcBef>
              <a:defRPr sz="1100">
                <a:solidFill>
                  <a:srgbClr val="1E293B"/>
                </a:solidFill>
                <a:latin typeface="Calibri"/>
              </a:defRPr>
            </a:pPr>
            <a:r>
              <a:t>• Metodologia Reprodutível: Protocolo formal de benchmarking vetorial para documentos da administração pública municipal brasileira.</a:t>
            </a:r>
          </a:p>
          <a:p>
            <a:pPr>
              <a:spcBef>
                <a:spcPts val="800"/>
              </a:spcBef>
              <a:defRPr sz="1100">
                <a:solidFill>
                  <a:srgbClr val="1E293B"/>
                </a:solidFill>
                <a:latin typeface="Calibri"/>
              </a:defRPr>
            </a:pPr>
            <a:r>
              <a:t>• Fundamentação para o Projeto JULIUS: Subsidiar com dados estatísticos confirmatórios a escolha do componente de recuperação semântica do agente conversacional do MPES.</a:t>
            </a:r>
          </a:p>
          <a:p>
            <a:pPr>
              <a:spcBef>
                <a:spcPts val="800"/>
              </a:spcBef>
              <a:defRPr sz="1100">
                <a:solidFill>
                  <a:srgbClr val="1E293B"/>
                </a:solidFill>
                <a:latin typeface="Calibri"/>
              </a:defRPr>
            </a:pPr>
            <a:r>
              <a:t>• Transparência Pública Efetiva: Promover ferramentas inteligentes capazes de transformar bases governamentais opacas em canais de diálogo direto com a sociedade.</a:t>
            </a:r>
          </a:p>
          <a:p>
            <a:pPr>
              <a:spcBef>
                <a:spcPts val="800"/>
              </a:spcBef>
              <a:defRPr sz="1100">
                <a:solidFill>
                  <a:srgbClr val="1E293B"/>
                </a:solidFill>
                <a:latin typeface="Calibri"/>
              </a:defRPr>
            </a:pPr>
            <a:r>
              <a:t>• Interseção Estatística e Ciência de Dados: Aplicação prática de testes de hipótese e métricas de ranking para solução de problemas complexos do mundo real.</a:t>
            </a:r>
          </a:p>
        </p:txBody>
      </p:sp>
      <p:sp>
        <p:nvSpPr>
          <p:cNvPr id="7" name="Rounded Rectangle 6"/>
          <p:cNvSpPr/>
          <p:nvPr/>
        </p:nvSpPr>
        <p:spPr>
          <a:xfrm>
            <a:off x="6272784" y="1600200"/>
            <a:ext cx="5175504" cy="4709160"/>
          </a:xfrm>
          <a:prstGeom prst="round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47104" y="1737360"/>
            <a:ext cx="4626864" cy="4434840"/>
          </a:xfrm>
          <a:prstGeom prst="rect">
            <a:avLst/>
          </a:prstGeom>
          <a:noFill/>
        </p:spPr>
        <p:txBody>
          <a:bodyPr wrap="square">
            <a:spAutoFit/>
          </a:bodyPr>
          <a:lstStyle/>
          <a:p>
            <a:pPr>
              <a:defRPr sz="1500" b="1">
                <a:solidFill>
                  <a:srgbClr val="60A5FA"/>
                </a:solidFill>
                <a:latin typeface="Calibri"/>
              </a:defRPr>
            </a:pPr>
            <a:r>
              <a:t>Agradecimentos Institucionais</a:t>
            </a:r>
          </a:p>
          <a:p>
            <a:pPr>
              <a:spcBef>
                <a:spcPts val="800"/>
              </a:spcBef>
              <a:defRPr sz="1100">
                <a:solidFill>
                  <a:srgbClr val="E2E8F0"/>
                </a:solidFill>
                <a:latin typeface="Calibri"/>
              </a:defRPr>
            </a:pPr>
            <a:r>
              <a:t>Agradeço à Universidade Federal do Espírito Santo (UFES), aos meus orientadores Diego Roberto Colombo Dias e Pedro Pelacani Berger pelo suporte contínuo, à equipe do Projeto JULIUS no Ministério Público do Estado do Espírito Santo (MPES) e à Prefeitura Municipal de São Gabriel da Palha pela cooperação técnica e institucional.</a:t>
            </a:r>
          </a:p>
          <a:p>
            <a:pPr algn="ctr">
              <a:spcBef>
                <a:spcPts val="1800"/>
              </a:spcBef>
              <a:defRPr sz="1800" b="1">
                <a:solidFill>
                  <a:srgbClr val="FFFFFF"/>
                </a:solidFill>
                <a:latin typeface="Calibri"/>
              </a:defRPr>
            </a:pPr>
            <a:r>
              <a:t>MUITO OBRIGADO PELA ATENÇÃO!</a:t>
            </a:r>
          </a:p>
          <a:p>
            <a:pPr algn="ctr">
              <a:spcBef>
                <a:spcPts val="800"/>
              </a:spcBef>
              <a:defRPr sz="1200">
                <a:solidFill>
                  <a:srgbClr val="94A3B8"/>
                </a:solidFill>
                <a:latin typeface="Calibri"/>
              </a:defRPr>
            </a:pPr>
            <a:r>
              <a:t>Estamos abertos às considerações, sugestões e perguntas da Banca Examinadora.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